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82" r:id="rId4"/>
    <p:sldId id="283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4" r:id="rId14"/>
    <p:sldId id="285" r:id="rId15"/>
    <p:sldId id="281" r:id="rId16"/>
    <p:sldId id="272" r:id="rId1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20E"/>
    <a:srgbClr val="027E25"/>
    <a:srgbClr val="067A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74F589-EA97-4122-A7AD-2E74E5FFA289}" v="308" dt="2026-04-17T21:08:27.657"/>
    <p1510:client id="{85E6640E-658E-4E28-871C-4378E495015A}" v="773" dt="2026-04-17T20:42:12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1" autoAdjust="0"/>
    <p:restoredTop sz="94053" autoAdjust="0"/>
  </p:normalViewPr>
  <p:slideViewPr>
    <p:cSldViewPr snapToGrid="0">
      <p:cViewPr varScale="1">
        <p:scale>
          <a:sx n="73" d="100"/>
          <a:sy n="73" d="100"/>
        </p:scale>
        <p:origin x="144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A5EB1-D8AA-4E76-B35C-1758DEDF176B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72D6CA-B9B6-403E-8D4B-A3F08E47E3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80938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5BFE57-1CB6-EE41-87F9-2D7A6BA40C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C51B0D3-8A8C-B74C-7FCA-34AE5D54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DF1876F-696A-82C6-1487-93A44633A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A2F472A-6BD7-4935-2635-F67545245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2251E9D-8A7E-6762-F031-AE1310CE5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2960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618827-7C83-1967-5846-86DDAE50A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B7D25D0-7BFF-7FE6-EFDF-802149166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6DD9938-F5CC-87E0-B904-66C0723F9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9EAFBB2-2569-7BE7-CB8B-130C0365C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32F758A-2CD1-F82E-9F8E-8A55134A6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96199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1CC3E3-527A-3997-F69C-ADB2E2B4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C5C42C8-124D-8542-4162-3BE34B6C6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7F4D715-0BAA-A5A5-007A-FC075A6BD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3E2295E-22C0-D32A-6823-842B22817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AC625F6-32A1-6725-12E8-B3C62771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4570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E5E599-37D0-33E5-D94B-FC5D3937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0161BB3-1F38-4745-F740-67A459950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D5AD1CF-7313-89FD-97E0-5A37141B6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08166DD-650D-6DC7-042F-5F98058A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9B7288F-3A0E-563D-2D8C-10D4F4F5E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DCB5B93-C532-B1F8-7EFA-9F367E853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0862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1E5F34-F5AC-6CA1-C41E-AA07DDC9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F5671BA-0E53-651E-DB28-E87617E0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F3C5DCB-D359-15D3-716F-616F28B92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0A2FC27A-0EF7-835B-3C2B-12D9274CE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E21DAC0-DF20-FDB7-075E-65A49F43F7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B34F782-B1C0-6395-C171-54D8BE198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9806298-FDF8-2DC7-629B-1ECB7A215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C7964A0-E4ED-9B24-6D08-EC10EB4CD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6015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D6F49A-9ABB-6B96-6451-387A1E1B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4B2B51E-93CA-498F-A25F-9C283D665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8374A00-7BD7-6658-7A40-E3C4B2B4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D5CB4B4-A83E-2297-CFF1-9257B6AB2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6465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E45D66E1-E347-6507-A50A-748E66F70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895065E-5859-CB9A-40EE-42764442B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E7D7A13-56E5-3B8C-91B5-603FA4FF9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357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4649C0-4A14-2977-25FF-3FF4F1AE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4B699DC-AD13-6BD2-8B20-18A9D3212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5A2FD8E-EB39-E925-595F-CF5E18543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12B48F7-A068-0362-3F49-5E1BF9EA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A144D46-CC9A-399A-8497-39C26DAE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4D79DC7-FE0A-8AC5-41E0-CFF94CEB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1200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58D7B6-738C-3F7A-44F5-9F6FEBD2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37E7289-46ED-F206-C531-CABCD31811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2F53D64-E753-E86D-9BC4-18A8A2D1B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551EDCC-AA8E-1196-F4AE-E96D3FC7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B792122-129F-F919-4690-8C55F0A1C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7A930A7-FFE3-8A0F-4D15-073BDF53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0010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B197DA-012C-7A64-FBF9-80AA1FE8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EB71672-CEDE-8330-507E-4D8B430E3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99B9EB4-0176-A815-6EB4-5B1F5609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976D36D-53FC-D3EB-84FC-FEC9F253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F740E42-6530-F18F-D5F9-2C1055AC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5598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44DC7CC1-5506-3E3C-16F5-C2C4C05E2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AC1BCDB-2299-18C8-8AAE-943922CA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A1F255B-B4BB-8691-C436-EBBB78502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43A58A0-6B6C-E14B-518E-D5088F0B3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E1781B6-D302-98B3-FBF3-A1018F44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8456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6138E717-AB60-878F-2D24-E87BC099D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4043BD5-A15F-3F2C-D468-333F8B5C5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6ACD27C-D7E1-2FC1-8E7B-CF4FDA027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3901BA-4195-4C78-8EBE-0C1D2CF07D6E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AA65D42-5761-369E-74BA-95C23C373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D8A3108-389C-9755-3D81-C465EED6C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C9FA3E-300E-4896-82A8-609215448D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4955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zövegdoboz 9">
            <a:extLst>
              <a:ext uri="{FF2B5EF4-FFF2-40B4-BE49-F238E27FC236}">
                <a16:creationId xmlns:a16="http://schemas.microsoft.com/office/drawing/2014/main" id="{6E467505-A767-AD17-86D8-4B4E77420E78}"/>
              </a:ext>
            </a:extLst>
          </p:cNvPr>
          <p:cNvSpPr txBox="1"/>
          <p:nvPr/>
        </p:nvSpPr>
        <p:spPr>
          <a:xfrm>
            <a:off x="985341" y="2497976"/>
            <a:ext cx="9187916" cy="18620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11500" b="1" dirty="0">
                <a:solidFill>
                  <a:srgbClr val="40720E"/>
                </a:solidFill>
                <a:latin typeface="Aptos Display"/>
              </a:rPr>
              <a:t>ZÖLDÖSVÉNY</a:t>
            </a:r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544C1110-8EA8-73D6-88DB-497078E4FC36}"/>
              </a:ext>
            </a:extLst>
          </p:cNvPr>
          <p:cNvSpPr txBox="1"/>
          <p:nvPr/>
        </p:nvSpPr>
        <p:spPr>
          <a:xfrm>
            <a:off x="3400095" y="5297213"/>
            <a:ext cx="53918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/>
              <a:t>Készítette:</a:t>
            </a:r>
          </a:p>
          <a:p>
            <a:pPr algn="ctr"/>
            <a:r>
              <a:rPr lang="hu-HU" sz="2400" dirty="0"/>
              <a:t>Magyari Dávid Krisztián, Kassai Péter</a:t>
            </a:r>
          </a:p>
        </p:txBody>
      </p:sp>
    </p:spTree>
    <p:extLst>
      <p:ext uri="{BB962C8B-B14F-4D97-AF65-F5344CB8AC3E}">
        <p14:creationId xmlns:p14="http://schemas.microsoft.com/office/powerpoint/2010/main" val="2006555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39FFCFFC-E20D-566A-955B-E3130ECA6DB7}"/>
              </a:ext>
            </a:extLst>
          </p:cNvPr>
          <p:cNvSpPr txBox="1"/>
          <p:nvPr/>
        </p:nvSpPr>
        <p:spPr>
          <a:xfrm>
            <a:off x="136634" y="0"/>
            <a:ext cx="11918732" cy="32316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hu-HU" sz="4800" b="1" dirty="0">
                <a:solidFill>
                  <a:srgbClr val="40720E"/>
                </a:solidFill>
              </a:rPr>
              <a:t>A probléma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u-HU" dirty="0">
                <a:latin typeface="Aptos"/>
              </a:rPr>
              <a:t>A túrázással kapcsolatos információk sok különböző oldalon, szétszórtan érhetők 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latin typeface="Aptos"/>
              </a:rPr>
              <a:t>A meglévő oldalak gyakran túlzsúfoltak vagy nehezen kezelhetők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>
                <a:ea typeface="+mn-lt"/>
                <a:cs typeface="+mn-lt"/>
              </a:rPr>
              <a:t>Nincs egy dedikált, átfogó közösségi tér</a:t>
            </a:r>
            <a:endParaRPr lang="hu-HU"/>
          </a:p>
          <a:p>
            <a:endParaRPr lang="hu-HU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D605C68-9334-7C07-9737-2C9BFABF90FF}"/>
              </a:ext>
            </a:extLst>
          </p:cNvPr>
          <p:cNvSpPr txBox="1"/>
          <p:nvPr/>
        </p:nvSpPr>
        <p:spPr>
          <a:xfrm>
            <a:off x="136634" y="2886413"/>
            <a:ext cx="11918732" cy="33609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hu-HU" sz="4000" b="1" dirty="0">
                <a:solidFill>
                  <a:srgbClr val="40720E"/>
                </a:solidFill>
                <a:latin typeface="Aptos" panose="020B0004020202020204" pitchFamily="34" charset="0"/>
              </a:rPr>
              <a:t>A megoldás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>
                <a:latin typeface="Aptos"/>
              </a:rPr>
              <a:t>Zöldösvény</a:t>
            </a:r>
            <a:endParaRPr lang="hu-HU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latin typeface="Aptos"/>
              </a:rPr>
              <a:t>Egy könnyen kezelhető webalkalmazás túrák böngészésére és szűrésére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>
                <a:latin typeface="Aptos"/>
              </a:rPr>
              <a:t>Egységes és modern platform</a:t>
            </a:r>
            <a:endParaRPr lang="hu-HU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>
                <a:ea typeface="+mn-lt"/>
                <a:cs typeface="+mn-lt"/>
              </a:rPr>
              <a:t>Integrált, interaktív térképek a könnyű tájékozódásért</a:t>
            </a:r>
            <a:endParaRPr lang="hu-HU" b="1">
              <a:latin typeface="Apto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>
                <a:ea typeface="+mn-lt"/>
                <a:cs typeface="+mn-lt"/>
              </a:rPr>
              <a:t>Egyszerűsített böngészés</a:t>
            </a:r>
            <a:endParaRPr lang="hu-HU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753092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7B0E41-373A-B1C1-64E2-1F8309233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>
                <a:solidFill>
                  <a:srgbClr val="40720E"/>
                </a:solidFill>
              </a:rPr>
              <a:t>Projektünk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5F4813D-F08C-F3D9-71A7-63E3E44AD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800">
                <a:ea typeface="+mn-lt"/>
                <a:cs typeface="+mn-lt"/>
              </a:rPr>
              <a:t>Közösségépítés</a:t>
            </a:r>
          </a:p>
          <a:p>
            <a:r>
              <a:rPr lang="hu-HU" sz="1800">
                <a:ea typeface="+mn-lt"/>
                <a:cs typeface="+mn-lt"/>
              </a:rPr>
              <a:t>Könnyű tájékozódás</a:t>
            </a:r>
          </a:p>
          <a:p>
            <a:r>
              <a:rPr lang="hu-HU" sz="1800">
                <a:ea typeface="+mn-lt"/>
                <a:cs typeface="+mn-lt"/>
              </a:rPr>
              <a:t>Motiváció és aktivitás ösztönzése</a:t>
            </a:r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1104286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CAB0AF-0AD8-039E-E583-618471431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>
                <a:solidFill>
                  <a:srgbClr val="40720E"/>
                </a:solidFill>
              </a:rPr>
              <a:t>Témaválasztásunk indoklása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9E46310-FB0C-82C8-5D91-323148C18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800">
                <a:ea typeface="+mn-lt"/>
                <a:cs typeface="+mn-lt"/>
              </a:rPr>
              <a:t>Személyes motiváció és érdeklődés</a:t>
            </a:r>
          </a:p>
          <a:p>
            <a:r>
              <a:rPr lang="hu-HU" sz="1800">
                <a:ea typeface="+mn-lt"/>
                <a:cs typeface="+mn-lt"/>
              </a:rPr>
              <a:t>Valós probléma</a:t>
            </a:r>
          </a:p>
          <a:p>
            <a:r>
              <a:rPr lang="hu-HU" sz="1800">
                <a:ea typeface="+mn-lt"/>
                <a:cs typeface="+mn-lt"/>
              </a:rPr>
              <a:t>Szakmai kihívás és fejlődés</a:t>
            </a:r>
            <a:endParaRPr lang="hu-HU" sz="18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9055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ECAF36-DFB5-27CD-BB27-1C58709B8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08418" cy="1360198"/>
          </a:xfrm>
        </p:spPr>
        <p:txBody>
          <a:bodyPr/>
          <a:lstStyle/>
          <a:p>
            <a:r>
              <a:rPr lang="hu-HU" b="1">
                <a:solidFill>
                  <a:srgbClr val="40720E"/>
                </a:solidFill>
              </a:rPr>
              <a:t>A program funkciói</a:t>
            </a:r>
            <a:endParaRPr lang="hu-HU" b="1" dirty="0">
              <a:solidFill>
                <a:srgbClr val="40720E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5AC515-3C9D-0F10-B576-8603DA60E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800"/>
              <a:t>Regisztráció</a:t>
            </a:r>
          </a:p>
          <a:p>
            <a:r>
              <a:rPr lang="hu-HU" sz="1800"/>
              <a:t>Bejelentkezés</a:t>
            </a:r>
          </a:p>
          <a:p>
            <a:r>
              <a:rPr lang="hu-HU" sz="1800"/>
              <a:t>Túrák böngészése, szűrése</a:t>
            </a:r>
          </a:p>
          <a:p>
            <a:r>
              <a:rPr lang="hu-HU" sz="1800"/>
              <a:t>Turák kedvelése</a:t>
            </a:r>
          </a:p>
          <a:p>
            <a:r>
              <a:rPr lang="hu-HU" sz="1800"/>
              <a:t>Fórum létrehozás, hozzászólás</a:t>
            </a:r>
          </a:p>
          <a:p>
            <a:r>
              <a:rPr lang="hu-HU" sz="1800"/>
              <a:t>Fórum kedvelése</a:t>
            </a:r>
            <a:endParaRPr lang="hu-HU" sz="18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66465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66CF81-D6DF-64F8-F570-369B19802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48501" cy="1348653"/>
          </a:xfrm>
        </p:spPr>
        <p:txBody>
          <a:bodyPr/>
          <a:lstStyle/>
          <a:p>
            <a:r>
              <a:rPr lang="hu-HU" b="1">
                <a:solidFill>
                  <a:srgbClr val="40720E"/>
                </a:solidFill>
              </a:rPr>
              <a:t>A program felép</a:t>
            </a:r>
            <a:r>
              <a:rPr lang="hu-HU" b="1">
                <a:solidFill>
                  <a:srgbClr val="40720E"/>
                </a:solidFill>
                <a:highlight>
                  <a:srgbClr val="FFFFFF"/>
                </a:highlight>
              </a:rPr>
              <a:t>í</a:t>
            </a:r>
            <a:r>
              <a:rPr lang="hu-HU" b="1">
                <a:solidFill>
                  <a:srgbClr val="40720E"/>
                </a:solidFill>
              </a:rPr>
              <a:t>tése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7E5D40-C3F4-B345-698E-8A5F35A93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sz="1800" b="1">
                <a:solidFill>
                  <a:srgbClr val="40720E"/>
                </a:solidFill>
              </a:rPr>
              <a:t>Backend – Node.js (v22.20.0)</a:t>
            </a:r>
          </a:p>
          <a:p>
            <a:r>
              <a:rPr lang="hu-HU" sz="1800"/>
              <a:t>Express.js</a:t>
            </a:r>
          </a:p>
          <a:p>
            <a:r>
              <a:rPr lang="hu-HU" sz="1800"/>
              <a:t>Felhasználói hitelestés</a:t>
            </a:r>
          </a:p>
          <a:p>
            <a:pPr marL="0" indent="0">
              <a:buNone/>
            </a:pPr>
            <a:r>
              <a:rPr lang="hu-HU" sz="1800" b="1">
                <a:solidFill>
                  <a:srgbClr val="40720E"/>
                </a:solidFill>
              </a:rPr>
              <a:t>Frontend </a:t>
            </a:r>
            <a:r>
              <a:rPr lang="hu-HU" sz="1800" b="1">
                <a:solidFill>
                  <a:srgbClr val="40720E"/>
                </a:solidFill>
                <a:ea typeface="+mn-lt"/>
                <a:cs typeface="+mn-lt"/>
              </a:rPr>
              <a:t>React &amp; TypeScript (TSX)</a:t>
            </a:r>
            <a:endParaRPr lang="hu-HU" sz="1800" b="1" dirty="0">
              <a:solidFill>
                <a:srgbClr val="40720E"/>
              </a:solidFill>
            </a:endParaRPr>
          </a:p>
          <a:p>
            <a:pPr marL="285750" indent="-285750"/>
            <a:r>
              <a:rPr lang="hu-HU" sz="1800">
                <a:ea typeface="+mn-lt"/>
                <a:cs typeface="+mn-lt"/>
              </a:rPr>
              <a:t>Reszponzív dizájn</a:t>
            </a:r>
            <a:endParaRPr lang="hu-HU" sz="1800" dirty="0"/>
          </a:p>
          <a:p>
            <a:pPr marL="285750" indent="-285750"/>
            <a:r>
              <a:rPr lang="hu-HU" sz="1800">
                <a:ea typeface="+mn-lt"/>
                <a:cs typeface="+mn-lt"/>
              </a:rPr>
              <a:t>Google My Maps integráció</a:t>
            </a:r>
            <a:endParaRPr lang="hu-HU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hu-HU" sz="1800" b="1">
                <a:solidFill>
                  <a:srgbClr val="40720E"/>
                </a:solidFill>
              </a:rPr>
              <a:t>Adatbázis - </a:t>
            </a:r>
            <a:r>
              <a:rPr lang="hu-HU" sz="1800" b="1">
                <a:solidFill>
                  <a:srgbClr val="40720E"/>
                </a:solidFill>
                <a:ea typeface="+mn-lt"/>
                <a:cs typeface="+mn-lt"/>
              </a:rPr>
              <a:t>Microsoft SQL Server</a:t>
            </a:r>
            <a:endParaRPr lang="hu-HU" sz="1800" b="1" dirty="0">
              <a:solidFill>
                <a:srgbClr val="40720E"/>
              </a:solidFill>
            </a:endParaRPr>
          </a:p>
          <a:p>
            <a:r>
              <a:rPr lang="hu-HU" sz="1800">
                <a:ea typeface="+mn-lt"/>
                <a:cs typeface="+mn-lt"/>
              </a:rPr>
              <a:t>Biztonságos, medence-alapú adatkapcsolat</a:t>
            </a:r>
            <a:endParaRPr lang="hu-HU">
              <a:ea typeface="+mn-lt"/>
              <a:cs typeface="+mn-lt"/>
            </a:endParaRPr>
          </a:p>
          <a:p>
            <a:pPr marL="285750" indent="-285750"/>
            <a:endParaRPr lang="hu-HU" sz="18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9813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8331C2-4C7B-D685-E795-6A17AA05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352964" cy="1348653"/>
          </a:xfrm>
        </p:spPr>
        <p:txBody>
          <a:bodyPr/>
          <a:lstStyle/>
          <a:p>
            <a:r>
              <a:rPr lang="hu-HU" b="1">
                <a:solidFill>
                  <a:srgbClr val="40720E"/>
                </a:solidFill>
              </a:rPr>
              <a:t>Backend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D7FCDA-2E8E-C4C8-A9A5-FAC573EC0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800">
                <a:ea typeface="+mn-lt"/>
                <a:cs typeface="+mn-lt"/>
              </a:rPr>
              <a:t>Node.js &amp; Express.js</a:t>
            </a:r>
            <a:endParaRPr lang="hu-HU" sz="1800"/>
          </a:p>
          <a:p>
            <a:r>
              <a:rPr lang="hu-HU" sz="1800">
                <a:ea typeface="+mn-lt"/>
                <a:cs typeface="+mn-lt"/>
              </a:rPr>
              <a:t>REST API</a:t>
            </a:r>
            <a:endParaRPr lang="hu-HU" sz="1800"/>
          </a:p>
          <a:p>
            <a:r>
              <a:rPr lang="hu-HU" sz="1800">
                <a:ea typeface="+mn-lt"/>
                <a:cs typeface="+mn-lt"/>
              </a:rPr>
              <a:t>Szolgáltatás réteg (Service)</a:t>
            </a:r>
            <a:endParaRPr lang="hu-HU" sz="1800"/>
          </a:p>
          <a:p>
            <a:r>
              <a:rPr lang="hu-HU" sz="1800">
                <a:ea typeface="+mn-lt"/>
                <a:cs typeface="+mn-lt"/>
              </a:rPr>
              <a:t>Hitelesítés (Authentication)</a:t>
            </a:r>
            <a:endParaRPr lang="hu-HU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hu-HU" sz="1600">
                <a:ea typeface="+mn-lt"/>
                <a:cs typeface="+mn-lt"/>
              </a:rPr>
              <a:t>Jogosultságkezelés</a:t>
            </a:r>
          </a:p>
          <a:p>
            <a:endParaRPr lang="hu-HU" dirty="0"/>
          </a:p>
        </p:txBody>
      </p:sp>
      <p:pic>
        <p:nvPicPr>
          <p:cNvPr id="5" name="Kép 4" descr="A képen szöveg, képernyőkép, Betűtípus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8FDA01DC-A666-9235-BB00-AA730F895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583" y="246932"/>
            <a:ext cx="4673905" cy="2627204"/>
          </a:xfrm>
          <a:prstGeom prst="rect">
            <a:avLst/>
          </a:prstGeom>
        </p:spPr>
      </p:pic>
      <p:pic>
        <p:nvPicPr>
          <p:cNvPr id="6" name="Kép 5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37EBEA10-9D81-68EE-B9D9-6849DCC3A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669" y="4709786"/>
            <a:ext cx="5076825" cy="1676400"/>
          </a:xfrm>
          <a:prstGeom prst="rect">
            <a:avLst/>
          </a:prstGeom>
        </p:spPr>
      </p:pic>
      <p:pic>
        <p:nvPicPr>
          <p:cNvPr id="7" name="Kép 6" descr="A képen szöveg, Betűtípus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51683A76-91ED-081A-9877-02CC254D7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821" y="2964753"/>
            <a:ext cx="451485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318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ADD30A-8658-5DED-E8E2-C129E408E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8944"/>
            <a:ext cx="2445328" cy="1394834"/>
          </a:xfrm>
        </p:spPr>
        <p:txBody>
          <a:bodyPr/>
          <a:lstStyle/>
          <a:p>
            <a:r>
              <a:rPr lang="hu-HU" b="1">
                <a:solidFill>
                  <a:srgbClr val="40720E"/>
                </a:solidFill>
              </a:rPr>
              <a:t>Frontend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E34FA4B-C524-F121-2D9E-B532F1A95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800">
                <a:ea typeface="+mn-lt"/>
                <a:cs typeface="+mn-lt"/>
              </a:rPr>
              <a:t>React &amp; TypeScript (TSX)</a:t>
            </a:r>
          </a:p>
          <a:p>
            <a:r>
              <a:rPr lang="hu-HU" sz="1800">
                <a:ea typeface="+mn-lt"/>
                <a:cs typeface="+mn-lt"/>
              </a:rPr>
              <a:t>React Router DOM (Navigáció az oldalak között)</a:t>
            </a:r>
          </a:p>
          <a:p>
            <a:r>
              <a:rPr lang="hu-HU" sz="1800">
                <a:ea typeface="+mn-lt"/>
                <a:cs typeface="+mn-lt"/>
              </a:rPr>
              <a:t>Backend kommunikáció (Services / API)</a:t>
            </a:r>
          </a:p>
          <a:p>
            <a:r>
              <a:rPr lang="hu-HU" sz="1800">
                <a:ea typeface="+mn-lt"/>
                <a:cs typeface="+mn-lt"/>
              </a:rPr>
              <a:t>Külső integrációk és könyvtárak</a:t>
            </a:r>
            <a:endParaRPr lang="hu-HU" sz="1800" dirty="0"/>
          </a:p>
        </p:txBody>
      </p:sp>
      <p:pic>
        <p:nvPicPr>
          <p:cNvPr id="4" name="Kép 3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5542D94C-728F-20F2-EF47-2CD81CAA5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158" y="304800"/>
            <a:ext cx="280987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917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DAFF1F-7B44-F07A-3FF6-F763FD58A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>
                <a:solidFill>
                  <a:srgbClr val="40720E"/>
                </a:solidFill>
              </a:rPr>
              <a:t>Adatbázis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262D58-8BE4-4B6D-0822-405987A0F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800">
                <a:ea typeface="+mn-lt"/>
                <a:cs typeface="+mn-lt"/>
              </a:rPr>
              <a:t>Microsoft SQL Server (MSSQL)</a:t>
            </a:r>
          </a:p>
          <a:p>
            <a:r>
              <a:rPr lang="hu-HU" sz="1800">
                <a:ea typeface="+mn-lt"/>
                <a:cs typeface="+mn-lt"/>
              </a:rPr>
              <a:t>Adatbázis-kezelés és tervezés</a:t>
            </a:r>
          </a:p>
          <a:p>
            <a:r>
              <a:rPr lang="hu-HU" sz="1800">
                <a:ea typeface="+mn-lt"/>
                <a:cs typeface="+mn-lt"/>
              </a:rPr>
              <a:t>Adatbázis-kezelés és tervezés</a:t>
            </a:r>
          </a:p>
          <a:p>
            <a:r>
              <a:rPr lang="hu-HU" sz="1800">
                <a:ea typeface="+mn-lt"/>
                <a:cs typeface="+mn-lt"/>
              </a:rPr>
              <a:t>9 tábla</a:t>
            </a:r>
            <a:endParaRPr lang="hu-HU" sz="1800" dirty="0">
              <a:ea typeface="+mn-lt"/>
              <a:cs typeface="+mn-lt"/>
            </a:endParaRPr>
          </a:p>
        </p:txBody>
      </p:sp>
      <p:pic>
        <p:nvPicPr>
          <p:cNvPr id="4" name="Kép 3" descr="A képen képernyőkép, Színesség, Grafika, Acélkék látható&#10;&#10;Lehet, hogy az AI által létrehozott tartalom helytelen.">
            <a:extLst>
              <a:ext uri="{FF2B5EF4-FFF2-40B4-BE49-F238E27FC236}">
                <a16:creationId xmlns:a16="http://schemas.microsoft.com/office/drawing/2014/main" id="{B858E729-200F-F095-2619-45C3C7D3A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718" y="1831041"/>
            <a:ext cx="3644153" cy="364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472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diagram, Tervrajz, Műszaki rajz látható&#10;&#10;Lehet, hogy az AI által létrehozott tartalom helytelen.">
            <a:extLst>
              <a:ext uri="{FF2B5EF4-FFF2-40B4-BE49-F238E27FC236}">
                <a16:creationId xmlns:a16="http://schemas.microsoft.com/office/drawing/2014/main" id="{A8AB5E30-B9AE-F989-51C4-1AE585BE3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828" y="0"/>
            <a:ext cx="10002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177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398464-3918-89F5-FA62-F8C80FAE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>
                <a:solidFill>
                  <a:srgbClr val="40720E"/>
                </a:solidFill>
                <a:ea typeface="+mj-lt"/>
                <a:cs typeface="+mj-lt"/>
              </a:rPr>
              <a:t>Reszponzivitás</a:t>
            </a:r>
            <a:endParaRPr lang="hu-HU" b="1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AA10395-BC93-7D0A-1CFA-E04EC246E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800">
                <a:ea typeface="+mn-lt"/>
                <a:cs typeface="+mn-lt"/>
              </a:rPr>
              <a:t>Optimalizálva mobileszközökre</a:t>
            </a:r>
          </a:p>
          <a:p>
            <a:pPr algn="just"/>
            <a:r>
              <a:rPr lang="hu-HU" sz="1800">
                <a:ea typeface="+mn-lt"/>
                <a:cs typeface="+mn-lt"/>
              </a:rPr>
              <a:t>Rugalmas felépítés</a:t>
            </a:r>
            <a:endParaRPr lang="hu-HU" sz="1800" dirty="0"/>
          </a:p>
        </p:txBody>
      </p:sp>
      <p:pic>
        <p:nvPicPr>
          <p:cNvPr id="4" name="Kép 3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857B0A8C-5018-9946-1EA4-90AF2B13D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812" y="369783"/>
            <a:ext cx="2713541" cy="55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4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E13B90-3EE2-1542-C403-197285DA0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565237" cy="1348653"/>
          </a:xfrm>
        </p:spPr>
        <p:txBody>
          <a:bodyPr/>
          <a:lstStyle/>
          <a:p>
            <a:r>
              <a:rPr lang="hu-HU" b="1">
                <a:solidFill>
                  <a:srgbClr val="40720E"/>
                </a:solidFill>
              </a:rPr>
              <a:t>Csapatmunka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C999871-B2E5-5F4B-59AD-28F1A8AAE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6365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1800"/>
              <a:t>Github</a:t>
            </a:r>
          </a:p>
          <a:p>
            <a:r>
              <a:rPr lang="hu-HU" sz="1800"/>
              <a:t>Discord</a:t>
            </a:r>
            <a:endParaRPr lang="hu-HU" sz="1800" dirty="0"/>
          </a:p>
        </p:txBody>
      </p:sp>
      <p:pic>
        <p:nvPicPr>
          <p:cNvPr id="4" name="Kép 3" descr="A képen Grafika, Betűtípus, embléma, fekete látható&#10;&#10;Lehet, hogy az AI által létrehozott tartalom helytelen.">
            <a:extLst>
              <a:ext uri="{FF2B5EF4-FFF2-40B4-BE49-F238E27FC236}">
                <a16:creationId xmlns:a16="http://schemas.microsoft.com/office/drawing/2014/main" id="{8B8214D4-AA30-E97F-B0B2-EBA303320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219" y="364033"/>
            <a:ext cx="6187168" cy="2295525"/>
          </a:xfrm>
          <a:prstGeom prst="rect">
            <a:avLst/>
          </a:prstGeom>
        </p:spPr>
      </p:pic>
      <p:pic>
        <p:nvPicPr>
          <p:cNvPr id="5" name="Kép 4" descr="A képen Grafika, Betűtípus, szöveg, Grafikus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AE9E0CC1-B4EE-B3E0-A4A6-FE5399E29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2655454"/>
            <a:ext cx="5553364" cy="30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32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34D79D-70C1-1B99-7BEE-822FC54D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>
                <a:solidFill>
                  <a:srgbClr val="40720E"/>
                </a:solidFill>
              </a:rPr>
              <a:t>Munkafelosztás - Frontend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7E2F399-2D3B-51B5-A779-4E0F5B95C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Magyari Dávid Krisztián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11F0EB1-0C19-2498-D58B-BE9533D1B0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sz="1800"/>
              <a:t>Oldalak</a:t>
            </a:r>
            <a:endParaRPr lang="hu-HU"/>
          </a:p>
          <a:p>
            <a:pPr marL="285750" indent="-285750"/>
            <a:r>
              <a:rPr lang="hu-HU" sz="1400"/>
              <a:t>Regisztráció</a:t>
            </a:r>
            <a:endParaRPr lang="hu-HU"/>
          </a:p>
          <a:p>
            <a:pPr marL="285750" indent="-285750"/>
            <a:r>
              <a:rPr lang="hu-HU" sz="1400"/>
              <a:t>Bejelentkezés</a:t>
            </a:r>
            <a:endParaRPr lang="hu-HU"/>
          </a:p>
          <a:p>
            <a:pPr marL="285750" indent="-285750"/>
            <a:r>
              <a:rPr lang="hu-HU" sz="1400"/>
              <a:t>Túrák</a:t>
            </a:r>
            <a:endParaRPr lang="hu-HU"/>
          </a:p>
          <a:p>
            <a:pPr marL="285750" indent="-285750"/>
            <a:r>
              <a:rPr lang="hu-HU" sz="1400"/>
              <a:t>Admin</a:t>
            </a:r>
            <a:endParaRPr lang="hu-HU"/>
          </a:p>
          <a:p>
            <a:pPr marL="285750" indent="-285750"/>
            <a:r>
              <a:rPr lang="hu-HU" sz="1400"/>
              <a:t>Főoldal</a:t>
            </a:r>
            <a:endParaRPr lang="hu-HU"/>
          </a:p>
          <a:p>
            <a:pPr marL="0" indent="0">
              <a:buNone/>
            </a:pPr>
            <a:r>
              <a:rPr lang="hu-HU" sz="1800"/>
              <a:t>Képek</a:t>
            </a:r>
            <a:endParaRPr lang="hu-HU" sz="2000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2A2E57D-491D-BF2D-CE4A-43D7D26AA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/>
              <a:t>Kassai Péter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A29FD49-C5D6-A6A1-363E-E59043BB311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sz="1800"/>
              <a:t>Oldalak</a:t>
            </a:r>
            <a:endParaRPr lang="hu-HU"/>
          </a:p>
          <a:p>
            <a:pPr marL="285750" indent="-285750"/>
            <a:r>
              <a:rPr lang="hu-HU" sz="1400"/>
              <a:t>Fórum</a:t>
            </a:r>
            <a:endParaRPr lang="hu-HU"/>
          </a:p>
          <a:p>
            <a:pPr marL="285750" indent="-285750"/>
            <a:r>
              <a:rPr lang="hu-HU" sz="1400"/>
              <a:t>Galéria</a:t>
            </a:r>
            <a:endParaRPr lang="hu-HU"/>
          </a:p>
          <a:p>
            <a:pPr marL="285750" indent="-285750"/>
            <a:r>
              <a:rPr lang="hu-HU" sz="1400"/>
              <a:t>Profil</a:t>
            </a:r>
            <a:endParaRPr lang="hu-HU"/>
          </a:p>
          <a:p>
            <a:pPr marL="285750" indent="-285750"/>
            <a:r>
              <a:rPr lang="hu-HU" sz="1400"/>
              <a:t>Rólunk</a:t>
            </a:r>
            <a:endParaRPr lang="hu-HU"/>
          </a:p>
          <a:p>
            <a:pPr marL="285750" indent="-285750"/>
            <a:r>
              <a:rPr lang="hu-HU" sz="1400"/>
              <a:t>Főoldal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6919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C405FB-7D00-139D-CDF3-FB420603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>
                <a:solidFill>
                  <a:srgbClr val="40720E"/>
                </a:solidFill>
              </a:rPr>
              <a:t>Munkafelosztás - Backend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079130A-47CB-0FC8-77EA-340BB0815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/>
              <a:t>Magyari Dávid Krisztián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8BCAC7F-E888-65CD-E8F9-702DA13C91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800">
                <a:ea typeface="+mn-lt"/>
                <a:cs typeface="+mn-lt"/>
              </a:rPr>
              <a:t>Túrák kezelése</a:t>
            </a:r>
          </a:p>
          <a:p>
            <a:r>
              <a:rPr lang="hu-HU" sz="1800">
                <a:ea typeface="+mn-lt"/>
                <a:cs typeface="+mn-lt"/>
              </a:rPr>
              <a:t>Hitelesítés és bejelentkezé</a:t>
            </a:r>
          </a:p>
          <a:p>
            <a:r>
              <a:rPr lang="hu-HU" sz="1800">
                <a:ea typeface="+mn-lt"/>
                <a:cs typeface="+mn-lt"/>
              </a:rPr>
              <a:t>Adatbázis konfiguráció</a:t>
            </a:r>
          </a:p>
          <a:p>
            <a:r>
              <a:rPr lang="hu-HU" sz="1800">
                <a:ea typeface="+mn-lt"/>
                <a:cs typeface="+mn-lt"/>
              </a:rPr>
              <a:t>Szerver alapbeállításai és útvonalak </a:t>
            </a:r>
          </a:p>
          <a:p>
            <a:r>
              <a:rPr lang="hu-HU" sz="1800">
                <a:ea typeface="+mn-lt"/>
                <a:cs typeface="+mn-lt"/>
              </a:rPr>
              <a:t>Környezeti változók és csomagok </a:t>
            </a:r>
            <a:endParaRPr lang="hu-HU" sz="1800" dirty="0">
              <a:ea typeface="+mn-lt"/>
              <a:cs typeface="+mn-lt"/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B465E37-25AB-3604-3AA9-9246EF840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/>
              <a:t>Kassai Péter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5DB74A1-FA19-F247-3CAF-9DEE2164F94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800">
                <a:ea typeface="+mn-lt"/>
                <a:cs typeface="+mn-lt"/>
              </a:rPr>
              <a:t>Fórum működése </a:t>
            </a:r>
          </a:p>
          <a:p>
            <a:r>
              <a:rPr lang="hu-HU" sz="1800">
                <a:ea typeface="+mn-lt"/>
                <a:cs typeface="+mn-lt"/>
              </a:rPr>
              <a:t>Galéria és képfeltölté</a:t>
            </a:r>
          </a:p>
          <a:p>
            <a:r>
              <a:rPr lang="hu-HU" sz="1800">
                <a:ea typeface="+mn-lt"/>
                <a:cs typeface="+mn-lt"/>
              </a:rPr>
              <a:t>Jelvények rendszere</a:t>
            </a:r>
            <a:endParaRPr lang="hu-HU">
              <a:ea typeface="+mn-lt"/>
              <a:cs typeface="+mn-lt"/>
            </a:endParaRPr>
          </a:p>
          <a:p>
            <a:r>
              <a:rPr lang="hu-HU" sz="1800"/>
              <a:t>Adatbázis konfiguráció</a:t>
            </a:r>
            <a:endParaRPr lang="hu-HU" sz="1800" dirty="0"/>
          </a:p>
          <a:p>
            <a:r>
              <a:rPr lang="hu-HU" sz="1800"/>
              <a:t>Szerver alapbeállításai és útvonalak </a:t>
            </a:r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2410539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1229DD-8359-05BB-C083-86DD69D1F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688772" cy="1347334"/>
          </a:xfrm>
        </p:spPr>
        <p:txBody>
          <a:bodyPr/>
          <a:lstStyle/>
          <a:p>
            <a:r>
              <a:rPr lang="hu-HU" b="1">
                <a:solidFill>
                  <a:srgbClr val="40720E"/>
                </a:solidFill>
              </a:rPr>
              <a:t>Publikáció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BEF256-1A34-41C2-AD5D-0E12BDF02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1800">
                <a:ea typeface="+mn-lt"/>
                <a:cs typeface="+mn-lt"/>
              </a:rPr>
              <a:t>Verziókövetés - GitHub</a:t>
            </a:r>
          </a:p>
          <a:p>
            <a:r>
              <a:rPr lang="hu-HU" sz="1800">
                <a:ea typeface="+mn-lt"/>
                <a:cs typeface="+mn-lt"/>
              </a:rPr>
              <a:t>Frontend – Vercel</a:t>
            </a:r>
            <a:endParaRPr lang="hu-HU" sz="1800"/>
          </a:p>
          <a:p>
            <a:r>
              <a:rPr lang="hu-HU" sz="1800">
                <a:ea typeface="+mn-lt"/>
                <a:cs typeface="+mn-lt"/>
              </a:rPr>
              <a:t>Adatbázis - Azure SQL Database</a:t>
            </a:r>
          </a:p>
          <a:p>
            <a:r>
              <a:rPr lang="hu-HU" sz="1800">
                <a:ea typeface="+mn-lt"/>
                <a:cs typeface="+mn-lt"/>
              </a:rPr>
              <a:t>Backend - Felhő alapú Node.js futtatás</a:t>
            </a:r>
            <a:endParaRPr lang="hu-HU" sz="1800" dirty="0"/>
          </a:p>
        </p:txBody>
      </p:sp>
      <p:pic>
        <p:nvPicPr>
          <p:cNvPr id="4" name="Kép 3" descr="A képen Betűtípus, Grafika, szöveg, Grafikus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5BD21A86-8486-7BD5-F74A-208B349F0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993" y="104568"/>
            <a:ext cx="4806539" cy="3196443"/>
          </a:xfrm>
          <a:prstGeom prst="rect">
            <a:avLst/>
          </a:prstGeom>
        </p:spPr>
      </p:pic>
      <p:pic>
        <p:nvPicPr>
          <p:cNvPr id="5" name="Kép 4" descr="A képen Betűtípus, szöveg, Grafika, embléma látható&#10;&#10;Lehet, hogy az AI által létrehozott tartalom helytelen.">
            <a:extLst>
              <a:ext uri="{FF2B5EF4-FFF2-40B4-BE49-F238E27FC236}">
                <a16:creationId xmlns:a16="http://schemas.microsoft.com/office/drawing/2014/main" id="{6DBCEF59-48B4-DA8F-E218-1A52E3919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817" y="3429000"/>
            <a:ext cx="4918365" cy="286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871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E3CEB44E-1B09-7102-E5F5-C2086FC01193}"/>
              </a:ext>
            </a:extLst>
          </p:cNvPr>
          <p:cNvSpPr/>
          <p:nvPr/>
        </p:nvSpPr>
        <p:spPr>
          <a:xfrm>
            <a:off x="0" y="0"/>
            <a:ext cx="12286593" cy="711550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22C4973-1B8C-10B5-A027-5CBA22B10CA4}"/>
              </a:ext>
            </a:extLst>
          </p:cNvPr>
          <p:cNvSpPr txBox="1"/>
          <p:nvPr/>
        </p:nvSpPr>
        <p:spPr>
          <a:xfrm>
            <a:off x="3095296" y="3010533"/>
            <a:ext cx="69525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8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Köszönjük a figyelmet!</a:t>
            </a:r>
            <a:endParaRPr lang="hu-HU" sz="4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166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253</Words>
  <Application>Microsoft Office PowerPoint</Application>
  <PresentationFormat>Szélesvásznú</PresentationFormat>
  <Paragraphs>100</Paragraphs>
  <Slides>16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17" baseType="lpstr">
      <vt:lpstr>Office-téma</vt:lpstr>
      <vt:lpstr>PowerPoint-bemutató</vt:lpstr>
      <vt:lpstr>PowerPoint-bemutató</vt:lpstr>
      <vt:lpstr>Projektünk célja</vt:lpstr>
      <vt:lpstr>Témaválasztásunk indoklása</vt:lpstr>
      <vt:lpstr>A program funkciói</vt:lpstr>
      <vt:lpstr>A program felépítése</vt:lpstr>
      <vt:lpstr>Backend</vt:lpstr>
      <vt:lpstr>Frontend</vt:lpstr>
      <vt:lpstr>Adatbázis</vt:lpstr>
      <vt:lpstr>PowerPoint-bemutató</vt:lpstr>
      <vt:lpstr>Reszponzivitás</vt:lpstr>
      <vt:lpstr>Csapatmunka</vt:lpstr>
      <vt:lpstr>Munkafelosztás - Frontend</vt:lpstr>
      <vt:lpstr>Munkafelosztás - Backend</vt:lpstr>
      <vt:lpstr>Publikáció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Kristof Szabo</dc:creator>
  <cp:lastModifiedBy>Kristof Szabo</cp:lastModifiedBy>
  <cp:revision>348</cp:revision>
  <dcterms:created xsi:type="dcterms:W3CDTF">2026-04-17T15:44:59Z</dcterms:created>
  <dcterms:modified xsi:type="dcterms:W3CDTF">2026-04-17T21:09:07Z</dcterms:modified>
</cp:coreProperties>
</file>