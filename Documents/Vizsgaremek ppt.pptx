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720E"/>
    <a:srgbClr val="027E25"/>
    <a:srgbClr val="067A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1" autoAdjust="0"/>
    <p:restoredTop sz="94053" autoAdjust="0"/>
  </p:normalViewPr>
  <p:slideViewPr>
    <p:cSldViewPr snapToGrid="0">
      <p:cViewPr varScale="1">
        <p:scale>
          <a:sx n="73" d="100"/>
          <a:sy n="73" d="100"/>
        </p:scale>
        <p:origin x="144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A5EB1-D8AA-4E76-B35C-1758DEDF176B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72D6CA-B9B6-403E-8D4B-A3F08E47E3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80938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72D6CA-B9B6-403E-8D4B-A3F08E47E3E4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70184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35BFE57-1CB6-EE41-87F9-2D7A6BA40C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C51B0D3-8A8C-B74C-7FCA-34AE5D54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DF1876F-696A-82C6-1487-93A44633A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901BA-4195-4C78-8EBE-0C1D2CF07D6E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A2F472A-6BD7-4935-2635-F67545245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2251E9D-8A7E-6762-F031-AE1310CE5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9FA3E-300E-4896-82A8-609215448D3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42960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1618827-7C83-1967-5846-86DDAE50A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B7D25D0-7BFF-7FE6-EFDF-802149166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6DD9938-F5CC-87E0-B904-66C0723F9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901BA-4195-4C78-8EBE-0C1D2CF07D6E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9EAFBB2-2569-7BE7-CB8B-130C0365C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32F758A-2CD1-F82E-9F8E-8A55134A6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9FA3E-300E-4896-82A8-609215448D3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96199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C1CC3E3-527A-3997-F69C-ADB2E2B45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C5C42C8-124D-8542-4162-3BE34B6C6E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7F4D715-0BAA-A5A5-007A-FC075A6BD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901BA-4195-4C78-8EBE-0C1D2CF07D6E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3E2295E-22C0-D32A-6823-842B22817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AC625F6-32A1-6725-12E8-B3C62771A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9FA3E-300E-4896-82A8-609215448D3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14570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E5E599-37D0-33E5-D94B-FC5D39375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0161BB3-1F38-4745-F740-67A459950D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2D5AD1CF-7313-89FD-97E0-5A37141B62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C08166DD-650D-6DC7-042F-5F98058A5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901BA-4195-4C78-8EBE-0C1D2CF07D6E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9B7288F-3A0E-563D-2D8C-10D4F4F5E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DCB5B93-C532-B1F8-7EFA-9F367E853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9FA3E-300E-4896-82A8-609215448D3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30862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B1E5F34-F5AC-6CA1-C41E-AA07DDC9B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F5671BA-0E53-651E-DB28-E87617E0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AF3C5DCB-D359-15D3-716F-616F28B923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0A2FC27A-0EF7-835B-3C2B-12D9274CEC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1E21DAC0-DF20-FDB7-075E-65A49F43F7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5B34F782-B1C0-6395-C171-54D8BE198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901BA-4195-4C78-8EBE-0C1D2CF07D6E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99806298-FDF8-2DC7-629B-1ECB7A215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4C7964A0-E4ED-9B24-6D08-EC10EB4CD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9FA3E-300E-4896-82A8-609215448D3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66015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9D6F49A-9ABB-6B96-6451-387A1E1BB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F4B2B51E-93CA-498F-A25F-9C283D665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901BA-4195-4C78-8EBE-0C1D2CF07D6E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D8374A00-7BD7-6658-7A40-E3C4B2B48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3D5CB4B4-A83E-2297-CFF1-9257B6AB2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9FA3E-300E-4896-82A8-609215448D3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66465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E45D66E1-E347-6507-A50A-748E66F70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901BA-4195-4C78-8EBE-0C1D2CF07D6E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F895065E-5859-CB9A-40EE-42764442B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E7D7A13-56E5-3B8C-91B5-603FA4FF9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9FA3E-300E-4896-82A8-609215448D3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63573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44649C0-4A14-2977-25FF-3FF4F1AE1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4B699DC-AD13-6BD2-8B20-18A9D3212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65A2FD8E-EB39-E925-595F-CF5E18543E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12B48F7-A068-0362-3F49-5E1BF9EA6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901BA-4195-4C78-8EBE-0C1D2CF07D6E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9A144D46-CC9A-399A-8497-39C26DAE0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4D79DC7-FE0A-8AC5-41E0-CFF94CEB4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9FA3E-300E-4896-82A8-609215448D3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1200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258D7B6-738C-3F7A-44F5-9F6FEBD2A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237E7289-46ED-F206-C531-CABCD31811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32F53D64-E753-E86D-9BC4-18A8A2D1B5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E551EDCC-AA8E-1196-F4AE-E96D3FC77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901BA-4195-4C78-8EBE-0C1D2CF07D6E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7B792122-129F-F919-4690-8C55F0A1C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67A930A7-FFE3-8A0F-4D15-073BDF53A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9FA3E-300E-4896-82A8-609215448D3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60010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8B197DA-012C-7A64-FBF9-80AA1FE86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9EB71672-CEDE-8330-507E-4D8B430E3B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99B9EB4-0176-A815-6EB4-5B1F56090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901BA-4195-4C78-8EBE-0C1D2CF07D6E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976D36D-53FC-D3EB-84FC-FEC9F2533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F740E42-6530-F18F-D5F9-2C1055ACC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9FA3E-300E-4896-82A8-609215448D3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5598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44DC7CC1-5506-3E3C-16F5-C2C4C05E23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6AC1BCDB-2299-18C8-8AAE-943922CA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A1F255B-B4BB-8691-C436-EBBB78502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901BA-4195-4C78-8EBE-0C1D2CF07D6E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43A58A0-6B6C-E14B-518E-D5088F0B3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E1781B6-D302-98B3-FBF3-A1018F44F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9FA3E-300E-4896-82A8-609215448D3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28456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6138E717-AB60-878F-2D24-E87BC099D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4043BD5-A15F-3F2C-D468-333F8B5C5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6ACD27C-D7E1-2FC1-8E7B-CF4FDA0272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3901BA-4195-4C78-8EBE-0C1D2CF07D6E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AA65D42-5761-369E-74BA-95C23C373D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D8A3108-389C-9755-3D81-C465EED6CC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C9FA3E-300E-4896-82A8-609215448D3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84955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zövegdoboz 9">
            <a:extLst>
              <a:ext uri="{FF2B5EF4-FFF2-40B4-BE49-F238E27FC236}">
                <a16:creationId xmlns:a16="http://schemas.microsoft.com/office/drawing/2014/main" id="{6E467505-A767-AD17-86D8-4B4E77420E78}"/>
              </a:ext>
            </a:extLst>
          </p:cNvPr>
          <p:cNvSpPr txBox="1"/>
          <p:nvPr/>
        </p:nvSpPr>
        <p:spPr>
          <a:xfrm>
            <a:off x="985341" y="2497976"/>
            <a:ext cx="10221313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500" dirty="0">
                <a:solidFill>
                  <a:srgbClr val="40720E"/>
                </a:solidFill>
                <a:latin typeface="Georgia Pro" panose="02040502050405020303" pitchFamily="18" charset="0"/>
              </a:rPr>
              <a:t>ZÖLDÖSVÉNY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544C1110-8EA8-73D6-88DB-497078E4FC36}"/>
              </a:ext>
            </a:extLst>
          </p:cNvPr>
          <p:cNvSpPr txBox="1"/>
          <p:nvPr/>
        </p:nvSpPr>
        <p:spPr>
          <a:xfrm>
            <a:off x="3400095" y="5297213"/>
            <a:ext cx="53918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400" b="1" dirty="0"/>
              <a:t>Készítette:</a:t>
            </a:r>
          </a:p>
          <a:p>
            <a:pPr algn="ctr"/>
            <a:r>
              <a:rPr lang="hu-HU" sz="2400" dirty="0"/>
              <a:t>Magyari Dávid Krisztián, Kassai Péter</a:t>
            </a:r>
          </a:p>
        </p:txBody>
      </p:sp>
    </p:spTree>
    <p:extLst>
      <p:ext uri="{BB962C8B-B14F-4D97-AF65-F5344CB8AC3E}">
        <p14:creationId xmlns:p14="http://schemas.microsoft.com/office/powerpoint/2010/main" val="2006555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yamatábra: Bekötés 6">
            <a:extLst>
              <a:ext uri="{FF2B5EF4-FFF2-40B4-BE49-F238E27FC236}">
                <a16:creationId xmlns:a16="http://schemas.microsoft.com/office/drawing/2014/main" id="{885BA0D7-E02B-2124-A1F5-B4490DCEC987}"/>
              </a:ext>
            </a:extLst>
          </p:cNvPr>
          <p:cNvSpPr/>
          <p:nvPr/>
        </p:nvSpPr>
        <p:spPr>
          <a:xfrm>
            <a:off x="-1103585" y="4217638"/>
            <a:ext cx="5381296" cy="5203623"/>
          </a:xfrm>
          <a:prstGeom prst="flowChartConnector">
            <a:avLst/>
          </a:prstGeom>
          <a:solidFill>
            <a:srgbClr val="40720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Folyamatábra: Bekötés 5">
            <a:extLst>
              <a:ext uri="{FF2B5EF4-FFF2-40B4-BE49-F238E27FC236}">
                <a16:creationId xmlns:a16="http://schemas.microsoft.com/office/drawing/2014/main" id="{F76C309C-0911-4563-595C-5E433BD577AC}"/>
              </a:ext>
            </a:extLst>
          </p:cNvPr>
          <p:cNvSpPr/>
          <p:nvPr/>
        </p:nvSpPr>
        <p:spPr>
          <a:xfrm>
            <a:off x="7914290" y="-985985"/>
            <a:ext cx="5381296" cy="5203623"/>
          </a:xfrm>
          <a:prstGeom prst="flowChartConnector">
            <a:avLst/>
          </a:prstGeom>
          <a:solidFill>
            <a:srgbClr val="40720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39FFCFFC-E20D-566A-955B-E3130ECA6DB7}"/>
              </a:ext>
            </a:extLst>
          </p:cNvPr>
          <p:cNvSpPr txBox="1"/>
          <p:nvPr/>
        </p:nvSpPr>
        <p:spPr>
          <a:xfrm>
            <a:off x="136634" y="0"/>
            <a:ext cx="11918732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hu-HU" sz="4800" b="1" dirty="0">
                <a:solidFill>
                  <a:srgbClr val="40720E"/>
                </a:solidFill>
              </a:rPr>
              <a:t>A probléma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hu-HU" b="1" dirty="0">
                <a:latin typeface="Aptos" panose="020B0004020202020204" pitchFamily="34" charset="0"/>
              </a:rPr>
              <a:t>A túrázással kapcsolatos információk sok különböző oldalon, szétszórtan érhetők el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b="1" dirty="0">
                <a:latin typeface="Aptos" panose="020B0004020202020204" pitchFamily="34" charset="0"/>
              </a:rPr>
              <a:t>A meglévő oldalak gyakran túlzsúfoltak vagy nehezen kezelhetők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b="1" dirty="0">
                <a:latin typeface="Aptos" panose="020B0004020202020204" pitchFamily="34" charset="0"/>
              </a:rPr>
              <a:t>Hiányzik egy egyszerű, átlátható felület, ahol a túrák böngészése és a közösségi funkciók egy helyen elérhetők</a:t>
            </a:r>
          </a:p>
          <a:p>
            <a:endParaRPr lang="hu-HU" dirty="0"/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5D605C68-9334-7C07-9737-2C9BFABF90FF}"/>
              </a:ext>
            </a:extLst>
          </p:cNvPr>
          <p:cNvSpPr txBox="1"/>
          <p:nvPr/>
        </p:nvSpPr>
        <p:spPr>
          <a:xfrm>
            <a:off x="136634" y="2886413"/>
            <a:ext cx="11918732" cy="3360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hu-HU" sz="4000" b="1" dirty="0">
                <a:solidFill>
                  <a:srgbClr val="40720E"/>
                </a:solidFill>
                <a:latin typeface="Aptos" panose="020B0004020202020204" pitchFamily="34" charset="0"/>
              </a:rPr>
              <a:t>A megoldás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b="1" dirty="0">
                <a:latin typeface="Aptos" panose="020B0004020202020204" pitchFamily="34" charset="0"/>
              </a:rPr>
              <a:t>Vándor Bakancs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b="1" dirty="0">
                <a:latin typeface="Aptos" panose="020B0004020202020204" pitchFamily="34" charset="0"/>
              </a:rPr>
              <a:t>Egy könnyen kezelhető webalkalmazás túrák böngészésére és szűrésére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b="1" dirty="0">
                <a:latin typeface="Aptos" panose="020B0004020202020204" pitchFamily="34" charset="0"/>
              </a:rPr>
              <a:t>Regisztrációs és bejelentkezési lehetőség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b="1" dirty="0">
                <a:latin typeface="Aptos" panose="020B0004020202020204" pitchFamily="34" charset="0"/>
              </a:rPr>
              <a:t>Fórum a felhasználói kommunikációhoz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b="1" dirty="0">
                <a:latin typeface="Aptos" panose="020B0004020202020204" pitchFamily="34" charset="0"/>
              </a:rPr>
              <a:t>Admin felület a tartalmak kezeléséhez</a:t>
            </a:r>
          </a:p>
        </p:txBody>
      </p:sp>
    </p:spTree>
    <p:extLst>
      <p:ext uri="{BB962C8B-B14F-4D97-AF65-F5344CB8AC3E}">
        <p14:creationId xmlns:p14="http://schemas.microsoft.com/office/powerpoint/2010/main" val="3527530926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F9AA35F1-AA52-A6D0-305A-B5CCF6AE5D4A}"/>
              </a:ext>
            </a:extLst>
          </p:cNvPr>
          <p:cNvSpPr/>
          <p:nvPr/>
        </p:nvSpPr>
        <p:spPr>
          <a:xfrm rot="19315881">
            <a:off x="-2238702" y="3033482"/>
            <a:ext cx="13190483" cy="1165399"/>
          </a:xfrm>
          <a:prstGeom prst="rect">
            <a:avLst/>
          </a:prstGeom>
          <a:solidFill>
            <a:srgbClr val="40720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5FC15FD5-80CF-B5A7-D5B5-782528A71802}"/>
              </a:ext>
            </a:extLst>
          </p:cNvPr>
          <p:cNvSpPr txBox="1"/>
          <p:nvPr/>
        </p:nvSpPr>
        <p:spPr>
          <a:xfrm>
            <a:off x="336331" y="588580"/>
            <a:ext cx="110884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000" b="1" dirty="0">
                <a:solidFill>
                  <a:srgbClr val="40720E"/>
                </a:solidFill>
              </a:rPr>
              <a:t>A projekt célja</a:t>
            </a:r>
            <a:endParaRPr lang="hu-HU" sz="4000" dirty="0">
              <a:solidFill>
                <a:srgbClr val="40720E"/>
              </a:solidFill>
            </a:endParaRP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6AD5D14F-0DF4-7B79-8EF1-5B95B854955B}"/>
              </a:ext>
            </a:extLst>
          </p:cNvPr>
          <p:cNvSpPr txBox="1"/>
          <p:nvPr/>
        </p:nvSpPr>
        <p:spPr>
          <a:xfrm>
            <a:off x="336331" y="1594693"/>
            <a:ext cx="917553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400" b="1" dirty="0"/>
              <a:t>túrák böngészése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400" b="1" dirty="0"/>
              <a:t>szűrés és keresés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400" b="1" dirty="0"/>
              <a:t>fórum funkció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400" b="1" dirty="0"/>
              <a:t>adminisztrációs lehetőségek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945827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églalap: lekerekített 20">
            <a:extLst>
              <a:ext uri="{FF2B5EF4-FFF2-40B4-BE49-F238E27FC236}">
                <a16:creationId xmlns:a16="http://schemas.microsoft.com/office/drawing/2014/main" id="{6ACC61EB-15AE-1C76-09D3-610B2F138EC8}"/>
              </a:ext>
            </a:extLst>
          </p:cNvPr>
          <p:cNvSpPr/>
          <p:nvPr/>
        </p:nvSpPr>
        <p:spPr>
          <a:xfrm>
            <a:off x="2075795" y="2163513"/>
            <a:ext cx="5181599" cy="819807"/>
          </a:xfrm>
          <a:prstGeom prst="roundRect">
            <a:avLst/>
          </a:prstGeom>
          <a:solidFill>
            <a:srgbClr val="40720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: lekerekített 5">
            <a:extLst>
              <a:ext uri="{FF2B5EF4-FFF2-40B4-BE49-F238E27FC236}">
                <a16:creationId xmlns:a16="http://schemas.microsoft.com/office/drawing/2014/main" id="{571A86B8-DABF-44DE-CF85-444B067BFD89}"/>
              </a:ext>
            </a:extLst>
          </p:cNvPr>
          <p:cNvSpPr/>
          <p:nvPr/>
        </p:nvSpPr>
        <p:spPr>
          <a:xfrm>
            <a:off x="704193" y="4629807"/>
            <a:ext cx="3363310" cy="819807"/>
          </a:xfrm>
          <a:prstGeom prst="roundRect">
            <a:avLst/>
          </a:prstGeom>
          <a:solidFill>
            <a:srgbClr val="40720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" name="Téglalap 2">
            <a:extLst>
              <a:ext uri="{FF2B5EF4-FFF2-40B4-BE49-F238E27FC236}">
                <a16:creationId xmlns:a16="http://schemas.microsoft.com/office/drawing/2014/main" id="{187CC18D-AC4C-A25C-42E3-BE21AE6270B0}"/>
              </a:ext>
            </a:extLst>
          </p:cNvPr>
          <p:cNvSpPr/>
          <p:nvPr/>
        </p:nvSpPr>
        <p:spPr>
          <a:xfrm>
            <a:off x="231226" y="220717"/>
            <a:ext cx="7872248" cy="107205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F34EF9F3-4D6C-48D7-2E59-6DBD8B7E8C50}"/>
              </a:ext>
            </a:extLst>
          </p:cNvPr>
          <p:cNvSpPr txBox="1"/>
          <p:nvPr/>
        </p:nvSpPr>
        <p:spPr>
          <a:xfrm>
            <a:off x="478218" y="402801"/>
            <a:ext cx="73782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000" b="1" dirty="0">
                <a:solidFill>
                  <a:srgbClr val="40720E"/>
                </a:solidFill>
              </a:rPr>
              <a:t>Miért ezt a témát választottuk?</a:t>
            </a:r>
            <a:endParaRPr lang="hu-HU" sz="4000" dirty="0">
              <a:solidFill>
                <a:srgbClr val="40720E"/>
              </a:solidFill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C5E982BC-4649-9F9C-56A7-2E81DA586ADA}"/>
              </a:ext>
            </a:extLst>
          </p:cNvPr>
          <p:cNvSpPr txBox="1"/>
          <p:nvPr/>
        </p:nvSpPr>
        <p:spPr>
          <a:xfrm>
            <a:off x="1114096" y="4923749"/>
            <a:ext cx="2543504" cy="32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75"/>
              </a:lnSpc>
              <a:spcAft>
                <a:spcPts val="450"/>
              </a:spcAft>
            </a:pPr>
            <a:r>
              <a:rPr lang="hu-HU" sz="2400" b="1" i="0" dirty="0">
                <a:solidFill>
                  <a:srgbClr val="1A1C1F"/>
                </a:solidFill>
                <a:effectLst/>
                <a:latin typeface="-apple-system"/>
              </a:rPr>
              <a:t>a túrázás népszerű</a:t>
            </a:r>
          </a:p>
        </p:txBody>
      </p:sp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743C88A6-AB27-8FCD-F623-A777D267A7A6}"/>
              </a:ext>
            </a:extLst>
          </p:cNvPr>
          <p:cNvSpPr/>
          <p:nvPr/>
        </p:nvSpPr>
        <p:spPr>
          <a:xfrm>
            <a:off x="2879834" y="5444359"/>
            <a:ext cx="4792717" cy="819807"/>
          </a:xfrm>
          <a:prstGeom prst="roundRect">
            <a:avLst/>
          </a:prstGeom>
          <a:solidFill>
            <a:srgbClr val="40720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3EA3C544-C2C1-09D5-79A3-1A3C47BD0F6C}"/>
              </a:ext>
            </a:extLst>
          </p:cNvPr>
          <p:cNvSpPr/>
          <p:nvPr/>
        </p:nvSpPr>
        <p:spPr>
          <a:xfrm>
            <a:off x="520261" y="2990193"/>
            <a:ext cx="3731174" cy="819807"/>
          </a:xfrm>
          <a:prstGeom prst="roundRect">
            <a:avLst/>
          </a:prstGeom>
          <a:solidFill>
            <a:srgbClr val="40720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Téglalap: lekerekített 10">
            <a:extLst>
              <a:ext uri="{FF2B5EF4-FFF2-40B4-BE49-F238E27FC236}">
                <a16:creationId xmlns:a16="http://schemas.microsoft.com/office/drawing/2014/main" id="{0A370E52-9432-D7EF-BAA4-CDBFABFFD38D}"/>
              </a:ext>
            </a:extLst>
          </p:cNvPr>
          <p:cNvSpPr/>
          <p:nvPr/>
        </p:nvSpPr>
        <p:spPr>
          <a:xfrm>
            <a:off x="2385848" y="3810000"/>
            <a:ext cx="3363310" cy="819807"/>
          </a:xfrm>
          <a:prstGeom prst="roundRect">
            <a:avLst/>
          </a:prstGeom>
          <a:solidFill>
            <a:srgbClr val="40720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663FF819-2D87-8FEE-E023-0EA2405AE4AF}"/>
              </a:ext>
            </a:extLst>
          </p:cNvPr>
          <p:cNvSpPr txBox="1"/>
          <p:nvPr/>
        </p:nvSpPr>
        <p:spPr>
          <a:xfrm>
            <a:off x="3042744" y="5705823"/>
            <a:ext cx="4466896" cy="32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75"/>
              </a:lnSpc>
              <a:spcAft>
                <a:spcPts val="450"/>
              </a:spcAft>
            </a:pPr>
            <a:r>
              <a:rPr lang="hu-HU" sz="2400" b="1" i="0" dirty="0">
                <a:solidFill>
                  <a:srgbClr val="1A1C1F"/>
                </a:solidFill>
                <a:effectLst/>
                <a:latin typeface="-apple-system"/>
              </a:rPr>
              <a:t>hiányzik az egyszerű, gyors felület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2C79ED4F-D8CD-9ECD-8F7B-9793A73468C2}"/>
              </a:ext>
            </a:extLst>
          </p:cNvPr>
          <p:cNvSpPr txBox="1"/>
          <p:nvPr/>
        </p:nvSpPr>
        <p:spPr>
          <a:xfrm>
            <a:off x="2701158" y="4123889"/>
            <a:ext cx="2732690" cy="32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75"/>
              </a:lnSpc>
              <a:spcAft>
                <a:spcPts val="450"/>
              </a:spcAft>
            </a:pPr>
            <a:r>
              <a:rPr lang="hu-HU" sz="2400" b="1" i="0" dirty="0">
                <a:solidFill>
                  <a:srgbClr val="1A1C1F"/>
                </a:solidFill>
                <a:effectLst/>
                <a:latin typeface="-apple-system"/>
              </a:rPr>
              <a:t>valós igényre reagál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9C39B06B-F877-327A-8AD7-0A85FCF39032}"/>
              </a:ext>
            </a:extLst>
          </p:cNvPr>
          <p:cNvSpPr txBox="1"/>
          <p:nvPr/>
        </p:nvSpPr>
        <p:spPr>
          <a:xfrm>
            <a:off x="520261" y="3283661"/>
            <a:ext cx="3731174" cy="32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75"/>
              </a:lnSpc>
              <a:spcAft>
                <a:spcPts val="450"/>
              </a:spcAft>
            </a:pPr>
            <a:r>
              <a:rPr lang="hu-HU" sz="2400" b="1" i="0" dirty="0">
                <a:solidFill>
                  <a:srgbClr val="1A1C1F"/>
                </a:solidFill>
                <a:effectLst/>
                <a:latin typeface="-apple-system"/>
              </a:rPr>
              <a:t>szakmailag összetett feladat</a:t>
            </a:r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E3057055-24DE-35F7-C14D-D194E1D2A9FD}"/>
              </a:ext>
            </a:extLst>
          </p:cNvPr>
          <p:cNvSpPr txBox="1"/>
          <p:nvPr/>
        </p:nvSpPr>
        <p:spPr>
          <a:xfrm>
            <a:off x="2385848" y="1987612"/>
            <a:ext cx="45614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hu-HU" sz="2400" b="1" dirty="0"/>
            </a:br>
            <a:r>
              <a:rPr lang="hu-HU" sz="2400" b="1" i="0" dirty="0">
                <a:solidFill>
                  <a:srgbClr val="1A1C1F"/>
                </a:solidFill>
                <a:effectLst/>
                <a:latin typeface="-apple-system"/>
              </a:rPr>
              <a:t>lényegretörő és könnyen átlátható</a:t>
            </a:r>
            <a:endParaRPr lang="hu-HU" sz="2400" b="1" dirty="0"/>
          </a:p>
        </p:txBody>
      </p:sp>
    </p:spTree>
    <p:extLst>
      <p:ext uri="{BB962C8B-B14F-4D97-AF65-F5344CB8AC3E}">
        <p14:creationId xmlns:p14="http://schemas.microsoft.com/office/powerpoint/2010/main" val="3732380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mboid 17">
            <a:extLst>
              <a:ext uri="{FF2B5EF4-FFF2-40B4-BE49-F238E27FC236}">
                <a16:creationId xmlns:a16="http://schemas.microsoft.com/office/drawing/2014/main" id="{8A6087F5-3DDD-9FFC-2642-85013E47D732}"/>
              </a:ext>
            </a:extLst>
          </p:cNvPr>
          <p:cNvSpPr/>
          <p:nvPr/>
        </p:nvSpPr>
        <p:spPr>
          <a:xfrm rot="7539380">
            <a:off x="1843283" y="-1609250"/>
            <a:ext cx="3924361" cy="8786638"/>
          </a:xfrm>
          <a:prstGeom prst="parallelogram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A9210495-B9C5-107F-77A8-7716B54BC0C6}"/>
              </a:ext>
            </a:extLst>
          </p:cNvPr>
          <p:cNvSpPr txBox="1"/>
          <p:nvPr/>
        </p:nvSpPr>
        <p:spPr>
          <a:xfrm>
            <a:off x="1455285" y="114361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4000" b="1" i="0" dirty="0">
                <a:solidFill>
                  <a:srgbClr val="40720E"/>
                </a:solidFill>
                <a:effectLst/>
                <a:latin typeface="-apple-system"/>
              </a:rPr>
              <a:t>A rendszer fő funkciói</a:t>
            </a:r>
            <a:endParaRPr lang="hu-HU" sz="4000" dirty="0">
              <a:solidFill>
                <a:srgbClr val="40720E"/>
              </a:solidFill>
            </a:endParaRPr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4086F5BC-7B29-91E5-7908-ECAC57426831}"/>
              </a:ext>
            </a:extLst>
          </p:cNvPr>
          <p:cNvSpPr/>
          <p:nvPr/>
        </p:nvSpPr>
        <p:spPr>
          <a:xfrm rot="2267840">
            <a:off x="5129048" y="-1912883"/>
            <a:ext cx="8671034" cy="3468414"/>
          </a:xfrm>
          <a:prstGeom prst="roundRect">
            <a:avLst/>
          </a:prstGeom>
          <a:solidFill>
            <a:srgbClr val="40720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C6FF1BCE-EDB7-4D1B-D91F-3C2BF7E22412}"/>
              </a:ext>
            </a:extLst>
          </p:cNvPr>
          <p:cNvSpPr/>
          <p:nvPr/>
        </p:nvSpPr>
        <p:spPr>
          <a:xfrm rot="2267840">
            <a:off x="-1600591" y="6113642"/>
            <a:ext cx="8671034" cy="3468414"/>
          </a:xfrm>
          <a:prstGeom prst="roundRect">
            <a:avLst/>
          </a:prstGeom>
          <a:solidFill>
            <a:srgbClr val="40720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0EE246DE-85EB-4AAE-5ECB-F455AD970341}"/>
              </a:ext>
            </a:extLst>
          </p:cNvPr>
          <p:cNvSpPr txBox="1"/>
          <p:nvPr/>
        </p:nvSpPr>
        <p:spPr>
          <a:xfrm>
            <a:off x="1325886" y="1868551"/>
            <a:ext cx="7635240" cy="331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75"/>
              </a:lnSpc>
              <a:spcAft>
                <a:spcPts val="450"/>
              </a:spcAft>
            </a:pPr>
            <a:r>
              <a:rPr lang="hu-HU" sz="2400" b="1" i="0" dirty="0">
                <a:solidFill>
                  <a:srgbClr val="1A1C1F"/>
                </a:solidFill>
                <a:effectLst/>
              </a:rPr>
              <a:t>túralista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9304694E-3A77-6577-7A31-E692A54B52DC}"/>
              </a:ext>
            </a:extLst>
          </p:cNvPr>
          <p:cNvSpPr txBox="1"/>
          <p:nvPr/>
        </p:nvSpPr>
        <p:spPr>
          <a:xfrm>
            <a:off x="4503285" y="4537505"/>
            <a:ext cx="7635240" cy="331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75"/>
              </a:lnSpc>
              <a:spcAft>
                <a:spcPts val="450"/>
              </a:spcAft>
            </a:pPr>
            <a:r>
              <a:rPr lang="hu-HU" sz="2400" b="1" i="0" dirty="0">
                <a:solidFill>
                  <a:srgbClr val="1A1C1F"/>
                </a:solidFill>
                <a:effectLst/>
                <a:latin typeface="Aptos (Szövegtörzs)"/>
              </a:rPr>
              <a:t>többfeltételes szűrés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B2F4AAC1-EB81-B9F3-4F35-D74BE7DC3EF0}"/>
              </a:ext>
            </a:extLst>
          </p:cNvPr>
          <p:cNvSpPr txBox="1"/>
          <p:nvPr/>
        </p:nvSpPr>
        <p:spPr>
          <a:xfrm>
            <a:off x="3649919" y="3845594"/>
            <a:ext cx="7635240" cy="331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75"/>
              </a:lnSpc>
              <a:spcAft>
                <a:spcPts val="450"/>
              </a:spcAft>
            </a:pPr>
            <a:r>
              <a:rPr lang="hu-HU" sz="2400" b="1" i="0" dirty="0">
                <a:solidFill>
                  <a:srgbClr val="1A1C1F"/>
                </a:solidFill>
                <a:effectLst/>
                <a:latin typeface="Aptos (Szövegtörzs)"/>
              </a:rPr>
              <a:t>regisztráció és login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DB6C1F1D-BD03-38FF-4298-8188FC9FC9B1}"/>
              </a:ext>
            </a:extLst>
          </p:cNvPr>
          <p:cNvSpPr txBox="1"/>
          <p:nvPr/>
        </p:nvSpPr>
        <p:spPr>
          <a:xfrm>
            <a:off x="685665" y="1280496"/>
            <a:ext cx="7635240" cy="331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75"/>
              </a:lnSpc>
              <a:spcAft>
                <a:spcPts val="450"/>
              </a:spcAft>
            </a:pPr>
            <a:r>
              <a:rPr lang="hu-HU" sz="2400" b="1" i="0" dirty="0">
                <a:solidFill>
                  <a:srgbClr val="1A1C1F"/>
                </a:solidFill>
                <a:effectLst/>
              </a:rPr>
              <a:t>fórum</a:t>
            </a:r>
            <a:endParaRPr lang="hu-HU" sz="1800" b="1" i="0" dirty="0">
              <a:solidFill>
                <a:srgbClr val="1A1C1F"/>
              </a:solidFill>
              <a:effectLst/>
            </a:endParaRP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3F7E4458-C07A-18B2-B69D-AF2095E6C479}"/>
              </a:ext>
            </a:extLst>
          </p:cNvPr>
          <p:cNvSpPr txBox="1"/>
          <p:nvPr/>
        </p:nvSpPr>
        <p:spPr>
          <a:xfrm>
            <a:off x="2096544" y="2456607"/>
            <a:ext cx="7650480" cy="331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75"/>
              </a:lnSpc>
              <a:spcAft>
                <a:spcPts val="450"/>
              </a:spcAft>
            </a:pPr>
            <a:r>
              <a:rPr lang="hu-HU" sz="2400" b="1" i="0" dirty="0">
                <a:solidFill>
                  <a:srgbClr val="1A1C1F"/>
                </a:solidFill>
                <a:effectLst/>
              </a:rPr>
              <a:t>profiloldal</a:t>
            </a:r>
            <a:endParaRPr lang="hu-HU" sz="1800" b="1" i="0" dirty="0">
              <a:solidFill>
                <a:srgbClr val="1A1C1F"/>
              </a:solidFill>
              <a:effectLst/>
            </a:endParaRP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DA060677-FAA7-8B68-CBE3-C91875C3270B}"/>
              </a:ext>
            </a:extLst>
          </p:cNvPr>
          <p:cNvSpPr txBox="1"/>
          <p:nvPr/>
        </p:nvSpPr>
        <p:spPr>
          <a:xfrm>
            <a:off x="2906895" y="3153683"/>
            <a:ext cx="7749540" cy="331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75"/>
              </a:lnSpc>
              <a:spcAft>
                <a:spcPts val="450"/>
              </a:spcAft>
            </a:pPr>
            <a:r>
              <a:rPr lang="hu-HU" sz="2400" b="1" i="0" dirty="0">
                <a:solidFill>
                  <a:srgbClr val="1A1C1F"/>
                </a:solidFill>
                <a:effectLst/>
                <a:latin typeface="Aptos (Szövegtörzs)"/>
              </a:rPr>
              <a:t>admin</a:t>
            </a:r>
            <a:r>
              <a:rPr lang="hu-HU" sz="1800" b="0" i="0" dirty="0">
                <a:solidFill>
                  <a:srgbClr val="1A1C1F"/>
                </a:solidFill>
                <a:effectLst/>
                <a:latin typeface="Aptos (Szövegtörzs)"/>
              </a:rPr>
              <a:t> </a:t>
            </a:r>
            <a:r>
              <a:rPr lang="hu-HU" sz="2400" b="1" i="0" dirty="0">
                <a:solidFill>
                  <a:srgbClr val="1A1C1F"/>
                </a:solidFill>
                <a:effectLst/>
                <a:latin typeface="Aptos (Szövegtörzs)"/>
              </a:rPr>
              <a:t>felület</a:t>
            </a:r>
            <a:endParaRPr lang="hu-HU" b="1" i="0" dirty="0">
              <a:solidFill>
                <a:srgbClr val="1A1C1F"/>
              </a:solidFill>
              <a:effectLst/>
              <a:latin typeface="Aptos (Szövegtörzs)"/>
            </a:endParaRPr>
          </a:p>
        </p:txBody>
      </p:sp>
    </p:spTree>
    <p:extLst>
      <p:ext uri="{BB962C8B-B14F-4D97-AF65-F5344CB8AC3E}">
        <p14:creationId xmlns:p14="http://schemas.microsoft.com/office/powerpoint/2010/main" val="3130461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églalap: lekerekített 6">
            <a:extLst>
              <a:ext uri="{FF2B5EF4-FFF2-40B4-BE49-F238E27FC236}">
                <a16:creationId xmlns:a16="http://schemas.microsoft.com/office/drawing/2014/main" id="{643A5C74-EAF7-0A1B-1AD3-9ABC7B9EC452}"/>
              </a:ext>
            </a:extLst>
          </p:cNvPr>
          <p:cNvSpPr/>
          <p:nvPr/>
        </p:nvSpPr>
        <p:spPr>
          <a:xfrm>
            <a:off x="1013460" y="4129368"/>
            <a:ext cx="2194560" cy="594360"/>
          </a:xfrm>
          <a:prstGeom prst="roundRect">
            <a:avLst/>
          </a:prstGeom>
          <a:solidFill>
            <a:srgbClr val="40720E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E40F1FC0-757B-CD76-8EFD-0B367A1DCF8F}"/>
              </a:ext>
            </a:extLst>
          </p:cNvPr>
          <p:cNvSpPr txBox="1"/>
          <p:nvPr/>
        </p:nvSpPr>
        <p:spPr>
          <a:xfrm>
            <a:off x="4419600" y="54685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4000" b="1" dirty="0">
                <a:solidFill>
                  <a:srgbClr val="40720E"/>
                </a:solidFill>
                <a:effectLst/>
                <a:latin typeface="-apple-system"/>
              </a:rPr>
              <a:t>Kiknek készült?</a:t>
            </a:r>
            <a:endParaRPr lang="hu-HU" sz="4000" b="1" dirty="0">
              <a:solidFill>
                <a:srgbClr val="40720E"/>
              </a:solidFill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799CF72D-0026-F03C-DF46-9DAD45B2AB10}"/>
              </a:ext>
            </a:extLst>
          </p:cNvPr>
          <p:cNvSpPr txBox="1"/>
          <p:nvPr/>
        </p:nvSpPr>
        <p:spPr>
          <a:xfrm>
            <a:off x="1527317" y="4320066"/>
            <a:ext cx="1154923" cy="32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75"/>
              </a:lnSpc>
              <a:spcAft>
                <a:spcPts val="450"/>
              </a:spcAft>
            </a:pPr>
            <a:r>
              <a:rPr lang="hu-HU" sz="2400" b="1" i="0" dirty="0">
                <a:solidFill>
                  <a:srgbClr val="1A1C1F"/>
                </a:solidFill>
                <a:effectLst/>
                <a:latin typeface="-apple-system"/>
              </a:rPr>
              <a:t>túrázók</a:t>
            </a:r>
            <a:endParaRPr lang="hu-HU" b="1" i="0" dirty="0">
              <a:solidFill>
                <a:srgbClr val="1A1C1F"/>
              </a:solidFill>
              <a:effectLst/>
              <a:latin typeface="-apple-system"/>
            </a:endParaRPr>
          </a:p>
        </p:txBody>
      </p:sp>
      <p:sp>
        <p:nvSpPr>
          <p:cNvPr id="6" name="Nyíl: lefelé mutató 5">
            <a:extLst>
              <a:ext uri="{FF2B5EF4-FFF2-40B4-BE49-F238E27FC236}">
                <a16:creationId xmlns:a16="http://schemas.microsoft.com/office/drawing/2014/main" id="{616BB3FC-A007-5DC1-8BB2-A13DD1E3F029}"/>
              </a:ext>
            </a:extLst>
          </p:cNvPr>
          <p:cNvSpPr/>
          <p:nvPr/>
        </p:nvSpPr>
        <p:spPr>
          <a:xfrm rot="2344657">
            <a:off x="2956727" y="1139647"/>
            <a:ext cx="754377" cy="3154680"/>
          </a:xfrm>
          <a:prstGeom prst="downArrow">
            <a:avLst/>
          </a:prstGeom>
          <a:solidFill>
            <a:srgbClr val="40720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: lekerekített 7">
            <a:extLst>
              <a:ext uri="{FF2B5EF4-FFF2-40B4-BE49-F238E27FC236}">
                <a16:creationId xmlns:a16="http://schemas.microsoft.com/office/drawing/2014/main" id="{974ABC3D-AFE0-FF47-0A7B-1913E2E026D9}"/>
              </a:ext>
            </a:extLst>
          </p:cNvPr>
          <p:cNvSpPr/>
          <p:nvPr/>
        </p:nvSpPr>
        <p:spPr>
          <a:xfrm>
            <a:off x="4557091" y="3209713"/>
            <a:ext cx="2194560" cy="594360"/>
          </a:xfrm>
          <a:prstGeom prst="roundRect">
            <a:avLst/>
          </a:prstGeom>
          <a:solidFill>
            <a:srgbClr val="40720E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C2DEE562-ECC5-BF59-5759-DC996A92411A}"/>
              </a:ext>
            </a:extLst>
          </p:cNvPr>
          <p:cNvSpPr/>
          <p:nvPr/>
        </p:nvSpPr>
        <p:spPr>
          <a:xfrm>
            <a:off x="7570965" y="3970893"/>
            <a:ext cx="2708152" cy="594360"/>
          </a:xfrm>
          <a:prstGeom prst="roundRect">
            <a:avLst/>
          </a:prstGeom>
          <a:solidFill>
            <a:srgbClr val="40720E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06AD0626-9F4D-11DF-EDB3-ECE4BACA03D5}"/>
              </a:ext>
            </a:extLst>
          </p:cNvPr>
          <p:cNvSpPr/>
          <p:nvPr/>
        </p:nvSpPr>
        <p:spPr>
          <a:xfrm>
            <a:off x="9588870" y="2292748"/>
            <a:ext cx="2371215" cy="594360"/>
          </a:xfrm>
          <a:prstGeom prst="roundRect">
            <a:avLst/>
          </a:prstGeom>
          <a:solidFill>
            <a:srgbClr val="40720E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E732889F-6D69-6922-5651-48A7F5541956}"/>
              </a:ext>
            </a:extLst>
          </p:cNvPr>
          <p:cNvSpPr txBox="1"/>
          <p:nvPr/>
        </p:nvSpPr>
        <p:spPr>
          <a:xfrm>
            <a:off x="5084579" y="3346255"/>
            <a:ext cx="1139584" cy="915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75"/>
              </a:lnSpc>
              <a:spcAft>
                <a:spcPts val="450"/>
              </a:spcAft>
            </a:pPr>
            <a:r>
              <a:rPr lang="hu-HU" sz="2400" b="1" i="0" dirty="0">
                <a:solidFill>
                  <a:srgbClr val="1A1C1F"/>
                </a:solidFill>
                <a:effectLst/>
                <a:latin typeface="-apple-system"/>
              </a:rPr>
              <a:t>kezdők</a:t>
            </a:r>
            <a:endParaRPr lang="hu-HU" b="1" i="0" dirty="0">
              <a:solidFill>
                <a:srgbClr val="1A1C1F"/>
              </a:solidFill>
              <a:effectLst/>
              <a:latin typeface="-apple-system"/>
            </a:endParaRPr>
          </a:p>
          <a:p>
            <a:pPr>
              <a:buNone/>
            </a:pPr>
            <a:br>
              <a:rPr lang="hu-HU" dirty="0"/>
            </a:br>
            <a:endParaRPr lang="hu-HU" dirty="0"/>
          </a:p>
        </p:txBody>
      </p:sp>
      <p:sp>
        <p:nvSpPr>
          <p:cNvPr id="13" name="Nyíl: lefelé mutató 12">
            <a:extLst>
              <a:ext uri="{FF2B5EF4-FFF2-40B4-BE49-F238E27FC236}">
                <a16:creationId xmlns:a16="http://schemas.microsoft.com/office/drawing/2014/main" id="{E4FCD823-87DE-604D-BC17-D2A3BFE73D3B}"/>
              </a:ext>
            </a:extLst>
          </p:cNvPr>
          <p:cNvSpPr/>
          <p:nvPr/>
        </p:nvSpPr>
        <p:spPr>
          <a:xfrm>
            <a:off x="5084579" y="1547280"/>
            <a:ext cx="754377" cy="1339828"/>
          </a:xfrm>
          <a:prstGeom prst="downArrow">
            <a:avLst/>
          </a:prstGeom>
          <a:solidFill>
            <a:srgbClr val="40720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256DD4B7-08CF-238D-27F1-BC8FF27B5E04}"/>
              </a:ext>
            </a:extLst>
          </p:cNvPr>
          <p:cNvSpPr txBox="1"/>
          <p:nvPr/>
        </p:nvSpPr>
        <p:spPr>
          <a:xfrm>
            <a:off x="7621855" y="4129368"/>
            <a:ext cx="2606371" cy="915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75"/>
              </a:lnSpc>
              <a:spcAft>
                <a:spcPts val="450"/>
              </a:spcAft>
            </a:pPr>
            <a:r>
              <a:rPr lang="hu-HU" sz="2400" b="1" i="0" dirty="0">
                <a:solidFill>
                  <a:srgbClr val="1A1C1F"/>
                </a:solidFill>
                <a:effectLst/>
                <a:latin typeface="-apple-system"/>
              </a:rPr>
              <a:t>hétvégi kirándulók</a:t>
            </a:r>
          </a:p>
          <a:p>
            <a:pPr>
              <a:buNone/>
            </a:pPr>
            <a:br>
              <a:rPr lang="hu-HU" dirty="0"/>
            </a:br>
            <a:endParaRPr lang="hu-HU" dirty="0"/>
          </a:p>
        </p:txBody>
      </p:sp>
      <p:sp>
        <p:nvSpPr>
          <p:cNvPr id="16" name="Nyíl: lefelé mutató 15">
            <a:extLst>
              <a:ext uri="{FF2B5EF4-FFF2-40B4-BE49-F238E27FC236}">
                <a16:creationId xmlns:a16="http://schemas.microsoft.com/office/drawing/2014/main" id="{D1E3C3CF-76B2-64E3-0182-D5780EF80B09}"/>
              </a:ext>
            </a:extLst>
          </p:cNvPr>
          <p:cNvSpPr/>
          <p:nvPr/>
        </p:nvSpPr>
        <p:spPr>
          <a:xfrm rot="19588500">
            <a:off x="7362245" y="1012587"/>
            <a:ext cx="754377" cy="3154680"/>
          </a:xfrm>
          <a:prstGeom prst="downArrow">
            <a:avLst/>
          </a:prstGeom>
          <a:solidFill>
            <a:srgbClr val="40720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E42E1966-AA71-EAE9-BCBC-EF1535D8DD9B}"/>
              </a:ext>
            </a:extLst>
          </p:cNvPr>
          <p:cNvSpPr txBox="1"/>
          <p:nvPr/>
        </p:nvSpPr>
        <p:spPr>
          <a:xfrm>
            <a:off x="9601825" y="2449085"/>
            <a:ext cx="2590175" cy="32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75"/>
              </a:lnSpc>
              <a:spcAft>
                <a:spcPts val="450"/>
              </a:spcAft>
            </a:pPr>
            <a:r>
              <a:rPr lang="hu-HU" sz="2400" b="1" i="0" dirty="0">
                <a:solidFill>
                  <a:srgbClr val="1A1C1F"/>
                </a:solidFill>
                <a:effectLst/>
                <a:latin typeface="-apple-system"/>
              </a:rPr>
              <a:t>adminisztrátorok</a:t>
            </a:r>
            <a:endParaRPr lang="hu-HU" b="1" i="0" dirty="0">
              <a:solidFill>
                <a:srgbClr val="1A1C1F"/>
              </a:solidFill>
              <a:effectLst/>
              <a:latin typeface="-apple-system"/>
            </a:endParaRPr>
          </a:p>
        </p:txBody>
      </p:sp>
      <p:sp>
        <p:nvSpPr>
          <p:cNvPr id="19" name="Nyíl: lefelé mutató 18">
            <a:extLst>
              <a:ext uri="{FF2B5EF4-FFF2-40B4-BE49-F238E27FC236}">
                <a16:creationId xmlns:a16="http://schemas.microsoft.com/office/drawing/2014/main" id="{8915EC18-58CE-710E-DD46-5B284F951B87}"/>
              </a:ext>
            </a:extLst>
          </p:cNvPr>
          <p:cNvSpPr/>
          <p:nvPr/>
        </p:nvSpPr>
        <p:spPr>
          <a:xfrm rot="18152646">
            <a:off x="8234465" y="744738"/>
            <a:ext cx="754377" cy="1866930"/>
          </a:xfrm>
          <a:prstGeom prst="downArrow">
            <a:avLst/>
          </a:prstGeom>
          <a:solidFill>
            <a:srgbClr val="40720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Téglalap 19">
            <a:extLst>
              <a:ext uri="{FF2B5EF4-FFF2-40B4-BE49-F238E27FC236}">
                <a16:creationId xmlns:a16="http://schemas.microsoft.com/office/drawing/2014/main" id="{636D1970-EB60-EF46-2EDD-F6D61C2B48FA}"/>
              </a:ext>
            </a:extLst>
          </p:cNvPr>
          <p:cNvSpPr/>
          <p:nvPr/>
        </p:nvSpPr>
        <p:spPr>
          <a:xfrm>
            <a:off x="-943893" y="6351552"/>
            <a:ext cx="14336111" cy="1859708"/>
          </a:xfrm>
          <a:prstGeom prst="rect">
            <a:avLst/>
          </a:prstGeom>
          <a:solidFill>
            <a:srgbClr val="40720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Téglalap 20">
            <a:extLst>
              <a:ext uri="{FF2B5EF4-FFF2-40B4-BE49-F238E27FC236}">
                <a16:creationId xmlns:a16="http://schemas.microsoft.com/office/drawing/2014/main" id="{D5E35E2E-2244-DEF3-E52C-E0861BB1FCB9}"/>
              </a:ext>
            </a:extLst>
          </p:cNvPr>
          <p:cNvSpPr/>
          <p:nvPr/>
        </p:nvSpPr>
        <p:spPr>
          <a:xfrm>
            <a:off x="-1706289" y="-1396213"/>
            <a:ext cx="14336111" cy="1859708"/>
          </a:xfrm>
          <a:prstGeom prst="rect">
            <a:avLst/>
          </a:prstGeom>
          <a:solidFill>
            <a:srgbClr val="40720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59891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1346FB5B-F603-961D-D2AD-57B8B0752A3C}"/>
              </a:ext>
            </a:extLst>
          </p:cNvPr>
          <p:cNvSpPr txBox="1"/>
          <p:nvPr/>
        </p:nvSpPr>
        <p:spPr>
          <a:xfrm>
            <a:off x="241737" y="156920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4000" b="1" i="0" dirty="0">
                <a:solidFill>
                  <a:srgbClr val="40720E"/>
                </a:solidFill>
                <a:effectLst/>
              </a:rPr>
              <a:t>Használt programok</a:t>
            </a:r>
            <a:endParaRPr lang="hu-HU" sz="4000" dirty="0">
              <a:solidFill>
                <a:srgbClr val="40720E"/>
              </a:solidFill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EFA2A108-0034-4CBC-055B-56B2016DE7B0}"/>
              </a:ext>
            </a:extLst>
          </p:cNvPr>
          <p:cNvSpPr txBox="1"/>
          <p:nvPr/>
        </p:nvSpPr>
        <p:spPr>
          <a:xfrm>
            <a:off x="641131" y="1506038"/>
            <a:ext cx="3310759" cy="4915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450"/>
              </a:spcAft>
            </a:pPr>
            <a:r>
              <a:rPr lang="hu-HU" sz="2400" b="1" i="0" dirty="0">
                <a:solidFill>
                  <a:srgbClr val="1A1C1F"/>
                </a:solidFill>
                <a:effectLst/>
                <a:latin typeface="Aptos" panose="020B0004020202020204" pitchFamily="34" charset="0"/>
              </a:rPr>
              <a:t>Next.js</a:t>
            </a:r>
          </a:p>
          <a:p>
            <a:pPr algn="l">
              <a:lnSpc>
                <a:spcPct val="150000"/>
              </a:lnSpc>
              <a:spcAft>
                <a:spcPts val="450"/>
              </a:spcAft>
            </a:pPr>
            <a:r>
              <a:rPr lang="hu-HU" sz="2400" b="1" i="0" dirty="0">
                <a:solidFill>
                  <a:srgbClr val="1A1C1F"/>
                </a:solidFill>
                <a:effectLst/>
                <a:latin typeface="Aptos" panose="020B0004020202020204" pitchFamily="34" charset="0"/>
              </a:rPr>
              <a:t>React</a:t>
            </a:r>
          </a:p>
          <a:p>
            <a:pPr algn="l">
              <a:lnSpc>
                <a:spcPct val="150000"/>
              </a:lnSpc>
              <a:spcAft>
                <a:spcPts val="450"/>
              </a:spcAft>
            </a:pPr>
            <a:r>
              <a:rPr lang="hu-HU" sz="2400" b="1" i="0" dirty="0">
                <a:solidFill>
                  <a:srgbClr val="1A1C1F"/>
                </a:solidFill>
                <a:effectLst/>
                <a:latin typeface="Aptos" panose="020B0004020202020204" pitchFamily="34" charset="0"/>
              </a:rPr>
              <a:t>Node.js</a:t>
            </a:r>
          </a:p>
          <a:p>
            <a:pPr algn="l">
              <a:lnSpc>
                <a:spcPct val="150000"/>
              </a:lnSpc>
              <a:spcAft>
                <a:spcPts val="450"/>
              </a:spcAft>
            </a:pPr>
            <a:r>
              <a:rPr lang="hu-HU" sz="2400" b="1" i="0" dirty="0">
                <a:solidFill>
                  <a:srgbClr val="1A1C1F"/>
                </a:solidFill>
                <a:effectLst/>
                <a:latin typeface="Aptos" panose="020B0004020202020204" pitchFamily="34" charset="0"/>
              </a:rPr>
              <a:t>Express</a:t>
            </a:r>
          </a:p>
          <a:p>
            <a:pPr algn="l">
              <a:lnSpc>
                <a:spcPct val="150000"/>
              </a:lnSpc>
              <a:spcAft>
                <a:spcPts val="450"/>
              </a:spcAft>
            </a:pPr>
            <a:r>
              <a:rPr lang="hu-HU" sz="2400" b="1" i="0" dirty="0">
                <a:solidFill>
                  <a:srgbClr val="1A1C1F"/>
                </a:solidFill>
                <a:effectLst/>
                <a:latin typeface="Aptos" panose="020B0004020202020204" pitchFamily="34" charset="0"/>
              </a:rPr>
              <a:t>Microsoft SQL Server</a:t>
            </a:r>
          </a:p>
          <a:p>
            <a:pPr algn="l">
              <a:lnSpc>
                <a:spcPct val="150000"/>
              </a:lnSpc>
              <a:spcAft>
                <a:spcPts val="450"/>
              </a:spcAft>
            </a:pPr>
            <a:r>
              <a:rPr lang="hu-HU" sz="2400" b="1" i="0" dirty="0">
                <a:solidFill>
                  <a:srgbClr val="1A1C1F"/>
                </a:solidFill>
                <a:effectLst/>
                <a:latin typeface="Aptos" panose="020B0004020202020204" pitchFamily="34" charset="0"/>
              </a:rPr>
              <a:t>GitHub</a:t>
            </a:r>
          </a:p>
          <a:p>
            <a:pPr algn="l">
              <a:lnSpc>
                <a:spcPct val="150000"/>
              </a:lnSpc>
              <a:spcAft>
                <a:spcPts val="450"/>
              </a:spcAft>
            </a:pPr>
            <a:r>
              <a:rPr lang="hu-HU" sz="2400" b="1" i="0" dirty="0">
                <a:solidFill>
                  <a:srgbClr val="1A1C1F"/>
                </a:solidFill>
                <a:effectLst/>
                <a:latin typeface="Aptos" panose="020B0004020202020204" pitchFamily="34" charset="0"/>
              </a:rPr>
              <a:t>Visual Studio Code</a:t>
            </a:r>
          </a:p>
          <a:p>
            <a:pPr algn="l">
              <a:lnSpc>
                <a:spcPct val="150000"/>
              </a:lnSpc>
              <a:spcAft>
                <a:spcPts val="450"/>
              </a:spcAft>
            </a:pPr>
            <a:r>
              <a:rPr lang="hu-HU" sz="2400" b="1" dirty="0" err="1">
                <a:solidFill>
                  <a:srgbClr val="1A1C1F"/>
                </a:solidFill>
                <a:latin typeface="Aptos" panose="020B0004020202020204" pitchFamily="34" charset="0"/>
              </a:rPr>
              <a:t>Discord</a:t>
            </a:r>
            <a:endParaRPr lang="hu-HU" b="1" i="0" dirty="0">
              <a:solidFill>
                <a:srgbClr val="1A1C1F"/>
              </a:solidFill>
              <a:effectLst/>
              <a:latin typeface="Aptos" panose="020B0004020202020204" pitchFamily="34" charset="0"/>
            </a:endParaRP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05F5C3E5-7054-69D5-CF50-414A5D0EC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0356" y="156920"/>
            <a:ext cx="2109907" cy="2109907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F2327394-BFD6-45B0-2AE4-0BC8B50138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5664" y="3825766"/>
            <a:ext cx="6073980" cy="2251422"/>
          </a:xfrm>
          <a:prstGeom prst="rect">
            <a:avLst/>
          </a:prstGeom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91BE3CC9-2F25-85FF-EB77-9C583263BF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147" y="2074270"/>
            <a:ext cx="4816818" cy="2709460"/>
          </a:xfrm>
          <a:prstGeom prst="rect">
            <a:avLst/>
          </a:prstGeom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6C33969A-2F4C-97F6-6774-8F229AC50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2002" y="510863"/>
            <a:ext cx="4086225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9399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églalap 13">
            <a:extLst>
              <a:ext uri="{FF2B5EF4-FFF2-40B4-BE49-F238E27FC236}">
                <a16:creationId xmlns:a16="http://schemas.microsoft.com/office/drawing/2014/main" id="{0BAD5297-D49E-C598-D992-A4EED414ACBD}"/>
              </a:ext>
            </a:extLst>
          </p:cNvPr>
          <p:cNvSpPr/>
          <p:nvPr/>
        </p:nvSpPr>
        <p:spPr>
          <a:xfrm>
            <a:off x="-204952" y="5640424"/>
            <a:ext cx="12770069" cy="809297"/>
          </a:xfrm>
          <a:prstGeom prst="rect">
            <a:avLst/>
          </a:prstGeom>
          <a:solidFill>
            <a:srgbClr val="40720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59D3FFA0-4551-13AD-3647-9F68C7F39A9B}"/>
              </a:ext>
            </a:extLst>
          </p:cNvPr>
          <p:cNvSpPr/>
          <p:nvPr/>
        </p:nvSpPr>
        <p:spPr>
          <a:xfrm>
            <a:off x="-204952" y="3894672"/>
            <a:ext cx="12770069" cy="809297"/>
          </a:xfrm>
          <a:prstGeom prst="rect">
            <a:avLst/>
          </a:prstGeom>
          <a:solidFill>
            <a:srgbClr val="40720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3855F5E4-9DBE-5D37-E6DE-AF79A32BBF89}"/>
              </a:ext>
            </a:extLst>
          </p:cNvPr>
          <p:cNvSpPr txBox="1"/>
          <p:nvPr/>
        </p:nvSpPr>
        <p:spPr>
          <a:xfrm>
            <a:off x="262759" y="29355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4000" b="1" i="0" dirty="0">
                <a:solidFill>
                  <a:srgbClr val="40720E"/>
                </a:solidFill>
                <a:effectLst/>
              </a:rPr>
              <a:t>A rendszer felépítése</a:t>
            </a:r>
            <a:endParaRPr lang="hu-HU" sz="4000" dirty="0">
              <a:solidFill>
                <a:srgbClr val="40720E"/>
              </a:solidFill>
            </a:endParaRP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D4A93FD0-C33C-73D9-4A83-E0FF5D3CCCD3}"/>
              </a:ext>
            </a:extLst>
          </p:cNvPr>
          <p:cNvSpPr/>
          <p:nvPr/>
        </p:nvSpPr>
        <p:spPr>
          <a:xfrm>
            <a:off x="-399393" y="1912534"/>
            <a:ext cx="12770069" cy="809297"/>
          </a:xfrm>
          <a:prstGeom prst="rect">
            <a:avLst/>
          </a:prstGeom>
          <a:solidFill>
            <a:srgbClr val="40720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F1738376-27F3-D255-EBFB-89D793739DB7}"/>
              </a:ext>
            </a:extLst>
          </p:cNvPr>
          <p:cNvSpPr txBox="1"/>
          <p:nvPr/>
        </p:nvSpPr>
        <p:spPr>
          <a:xfrm>
            <a:off x="383629" y="2227024"/>
            <a:ext cx="6700344" cy="331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75"/>
              </a:lnSpc>
              <a:spcAft>
                <a:spcPts val="450"/>
              </a:spcAft>
            </a:pPr>
            <a:r>
              <a:rPr lang="hu-HU" sz="2400" b="1" i="0" dirty="0">
                <a:solidFill>
                  <a:schemeClr val="bg1"/>
                </a:solidFill>
                <a:effectLst/>
              </a:rPr>
              <a:t>Frontend</a:t>
            </a:r>
            <a:endParaRPr lang="hu-HU" b="1" i="0" dirty="0">
              <a:solidFill>
                <a:schemeClr val="bg1"/>
              </a:solidFill>
              <a:effectLst/>
            </a:endParaRP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DC8AF4AC-9FEF-8ED2-0F35-26415290F463}"/>
              </a:ext>
            </a:extLst>
          </p:cNvPr>
          <p:cNvSpPr txBox="1"/>
          <p:nvPr/>
        </p:nvSpPr>
        <p:spPr>
          <a:xfrm>
            <a:off x="383629" y="4135589"/>
            <a:ext cx="6395544" cy="331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75"/>
              </a:lnSpc>
              <a:spcAft>
                <a:spcPts val="450"/>
              </a:spcAft>
            </a:pPr>
            <a:r>
              <a:rPr lang="hu-HU" sz="2400" b="1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Backend</a:t>
            </a:r>
            <a:endParaRPr lang="hu-HU" b="1" i="0" dirty="0">
              <a:solidFill>
                <a:schemeClr val="bg1"/>
              </a:solidFill>
              <a:effectLst/>
              <a:latin typeface="Aptos" panose="020B0004020202020204" pitchFamily="34" charset="0"/>
            </a:endParaRP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078BEF59-7A68-98F3-2C74-B5CFF1CA5259}"/>
              </a:ext>
            </a:extLst>
          </p:cNvPr>
          <p:cNvSpPr txBox="1"/>
          <p:nvPr/>
        </p:nvSpPr>
        <p:spPr>
          <a:xfrm>
            <a:off x="262759" y="5942365"/>
            <a:ext cx="6395544" cy="915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75"/>
              </a:lnSpc>
              <a:spcAft>
                <a:spcPts val="450"/>
              </a:spcAft>
            </a:pPr>
            <a:r>
              <a:rPr lang="hu-HU" sz="2400" b="1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Adatbázis</a:t>
            </a:r>
            <a:endParaRPr lang="hu-HU" b="1" i="0" dirty="0">
              <a:solidFill>
                <a:schemeClr val="bg1"/>
              </a:solidFill>
              <a:effectLst/>
              <a:latin typeface="Aptos" panose="020B0004020202020204" pitchFamily="34" charset="0"/>
            </a:endParaRPr>
          </a:p>
          <a:p>
            <a:pPr>
              <a:buNone/>
            </a:pPr>
            <a:br>
              <a:rPr lang="hu-HU" dirty="0"/>
            </a:br>
            <a:endParaRPr lang="hu-HU" dirty="0"/>
          </a:p>
        </p:txBody>
      </p:sp>
      <p:sp>
        <p:nvSpPr>
          <p:cNvPr id="17" name="Nyíl: lefelé mutató 16">
            <a:extLst>
              <a:ext uri="{FF2B5EF4-FFF2-40B4-BE49-F238E27FC236}">
                <a16:creationId xmlns:a16="http://schemas.microsoft.com/office/drawing/2014/main" id="{4831A5EB-D5E2-A732-AA68-C44E34F1BB59}"/>
              </a:ext>
            </a:extLst>
          </p:cNvPr>
          <p:cNvSpPr/>
          <p:nvPr/>
        </p:nvSpPr>
        <p:spPr>
          <a:xfrm>
            <a:off x="588579" y="2816772"/>
            <a:ext cx="430924" cy="987973"/>
          </a:xfrm>
          <a:prstGeom prst="down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Nyíl: lefelé mutató 17">
            <a:extLst>
              <a:ext uri="{FF2B5EF4-FFF2-40B4-BE49-F238E27FC236}">
                <a16:creationId xmlns:a16="http://schemas.microsoft.com/office/drawing/2014/main" id="{25D4BD35-470A-0912-BDE0-D153F1E5090D}"/>
              </a:ext>
            </a:extLst>
          </p:cNvPr>
          <p:cNvSpPr/>
          <p:nvPr/>
        </p:nvSpPr>
        <p:spPr>
          <a:xfrm>
            <a:off x="588579" y="4793896"/>
            <a:ext cx="430924" cy="791580"/>
          </a:xfrm>
          <a:prstGeom prst="down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01807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églalap 9">
            <a:extLst>
              <a:ext uri="{FF2B5EF4-FFF2-40B4-BE49-F238E27FC236}">
                <a16:creationId xmlns:a16="http://schemas.microsoft.com/office/drawing/2014/main" id="{433CD511-C519-73E1-F977-E274CF2F7BF1}"/>
              </a:ext>
            </a:extLst>
          </p:cNvPr>
          <p:cNvSpPr/>
          <p:nvPr/>
        </p:nvSpPr>
        <p:spPr>
          <a:xfrm>
            <a:off x="-388883" y="-714703"/>
            <a:ext cx="12969766" cy="81350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708C0154-C374-EF7F-7330-5AAD4FF3539E}"/>
              </a:ext>
            </a:extLst>
          </p:cNvPr>
          <p:cNvSpPr txBox="1"/>
          <p:nvPr/>
        </p:nvSpPr>
        <p:spPr>
          <a:xfrm>
            <a:off x="567557" y="524782"/>
            <a:ext cx="63797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4000" b="1" i="0" dirty="0">
                <a:solidFill>
                  <a:srgbClr val="40720E"/>
                </a:solidFill>
                <a:effectLst/>
              </a:rPr>
              <a:t>Frontend felépítése és működése</a:t>
            </a:r>
            <a:endParaRPr lang="hu-HU" sz="4000" dirty="0">
              <a:solidFill>
                <a:srgbClr val="40720E"/>
              </a:solidFill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C34760A2-C3B6-8C56-413C-A6F8D1D7ADF7}"/>
              </a:ext>
            </a:extLst>
          </p:cNvPr>
          <p:cNvSpPr txBox="1"/>
          <p:nvPr/>
        </p:nvSpPr>
        <p:spPr>
          <a:xfrm>
            <a:off x="567557" y="2226426"/>
            <a:ext cx="6096000" cy="3679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450"/>
              </a:spcAft>
            </a:pPr>
            <a:r>
              <a:rPr lang="hu-HU" sz="2400" b="1" i="0" dirty="0">
                <a:solidFill>
                  <a:srgbClr val="1A1C1F"/>
                </a:solidFill>
                <a:effectLst/>
                <a:latin typeface="Aptos" panose="020B0004020202020204" pitchFamily="34" charset="0"/>
              </a:rPr>
              <a:t>kezdőoldal</a:t>
            </a:r>
          </a:p>
          <a:p>
            <a:pPr algn="l">
              <a:lnSpc>
                <a:spcPct val="150000"/>
              </a:lnSpc>
              <a:spcAft>
                <a:spcPts val="450"/>
              </a:spcAft>
            </a:pPr>
            <a:r>
              <a:rPr lang="hu-HU" sz="2400" b="1" i="0" dirty="0">
                <a:solidFill>
                  <a:srgbClr val="1A1C1F"/>
                </a:solidFill>
                <a:effectLst/>
                <a:latin typeface="Aptos" panose="020B0004020202020204" pitchFamily="34" charset="0"/>
              </a:rPr>
              <a:t>túrák oldal</a:t>
            </a:r>
          </a:p>
          <a:p>
            <a:pPr algn="l">
              <a:lnSpc>
                <a:spcPct val="150000"/>
              </a:lnSpc>
              <a:spcAft>
                <a:spcPts val="450"/>
              </a:spcAft>
            </a:pPr>
            <a:r>
              <a:rPr lang="hu-HU" sz="2400" b="1" i="0" dirty="0">
                <a:solidFill>
                  <a:srgbClr val="1A1C1F"/>
                </a:solidFill>
                <a:effectLst/>
                <a:latin typeface="Aptos" panose="020B0004020202020204" pitchFamily="34" charset="0"/>
              </a:rPr>
              <a:t>fórum</a:t>
            </a:r>
          </a:p>
          <a:p>
            <a:pPr algn="l">
              <a:lnSpc>
                <a:spcPct val="150000"/>
              </a:lnSpc>
              <a:spcAft>
                <a:spcPts val="450"/>
              </a:spcAft>
            </a:pPr>
            <a:r>
              <a:rPr lang="hu-HU" sz="2400" b="1" i="0" dirty="0">
                <a:solidFill>
                  <a:srgbClr val="1A1C1F"/>
                </a:solidFill>
                <a:effectLst/>
                <a:latin typeface="Aptos" panose="020B0004020202020204" pitchFamily="34" charset="0"/>
              </a:rPr>
              <a:t>login / regisztráció</a:t>
            </a:r>
          </a:p>
          <a:p>
            <a:pPr algn="l">
              <a:lnSpc>
                <a:spcPct val="150000"/>
              </a:lnSpc>
              <a:spcAft>
                <a:spcPts val="450"/>
              </a:spcAft>
            </a:pPr>
            <a:r>
              <a:rPr lang="hu-HU" sz="2400" b="1" i="0" dirty="0">
                <a:solidFill>
                  <a:srgbClr val="1A1C1F"/>
                </a:solidFill>
                <a:effectLst/>
                <a:latin typeface="Aptos" panose="020B0004020202020204" pitchFamily="34" charset="0"/>
              </a:rPr>
              <a:t>profil</a:t>
            </a:r>
          </a:p>
          <a:p>
            <a:pPr algn="l">
              <a:lnSpc>
                <a:spcPct val="150000"/>
              </a:lnSpc>
              <a:spcAft>
                <a:spcPts val="450"/>
              </a:spcAft>
            </a:pPr>
            <a:r>
              <a:rPr lang="hu-HU" sz="2400" b="1" i="0" dirty="0">
                <a:solidFill>
                  <a:srgbClr val="1A1C1F"/>
                </a:solidFill>
                <a:effectLst/>
                <a:latin typeface="Aptos" panose="020B0004020202020204" pitchFamily="34" charset="0"/>
              </a:rPr>
              <a:t>admin felület</a:t>
            </a:r>
            <a:endParaRPr lang="hu-HU" b="1" i="0" dirty="0">
              <a:solidFill>
                <a:srgbClr val="1A1C1F"/>
              </a:solidFill>
              <a:effectLst/>
              <a:latin typeface="Aptos" panose="020B0004020202020204" pitchFamily="34" charset="0"/>
            </a:endParaRP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58EA4BFF-04C6-8103-A2D0-E181EAE6F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12980"/>
            <a:ext cx="5483103" cy="2833082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09970CF6-2040-D7BA-2CF8-5EF649597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352800"/>
            <a:ext cx="5734817" cy="1526192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4701F1AD-0792-7BEB-DDD7-FB4C904F25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985730"/>
            <a:ext cx="3703557" cy="2362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106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zabadkézi sokszög: alakzat 9">
            <a:extLst>
              <a:ext uri="{FF2B5EF4-FFF2-40B4-BE49-F238E27FC236}">
                <a16:creationId xmlns:a16="http://schemas.microsoft.com/office/drawing/2014/main" id="{8799F810-474E-0611-A39A-0D63E737344C}"/>
              </a:ext>
            </a:extLst>
          </p:cNvPr>
          <p:cNvSpPr/>
          <p:nvPr/>
        </p:nvSpPr>
        <p:spPr>
          <a:xfrm rot="3245275">
            <a:off x="-2191974" y="1517353"/>
            <a:ext cx="5638168" cy="4023181"/>
          </a:xfrm>
          <a:custGeom>
            <a:avLst/>
            <a:gdLst>
              <a:gd name="csX0" fmla="*/ 198366 w 4080643"/>
              <a:gd name="csY0" fmla="*/ 72825 h 2092792"/>
              <a:gd name="csX1" fmla="*/ 3172793 w 4080643"/>
              <a:gd name="csY1" fmla="*/ 177929 h 2092792"/>
              <a:gd name="csX2" fmla="*/ 1943083 w 4080643"/>
              <a:gd name="csY2" fmla="*/ 1617846 h 2092792"/>
              <a:gd name="csX3" fmla="*/ 4076683 w 4080643"/>
              <a:gd name="csY3" fmla="*/ 2027749 h 2092792"/>
              <a:gd name="csX4" fmla="*/ 1301952 w 4080643"/>
              <a:gd name="csY4" fmla="*/ 409156 h 2092792"/>
              <a:gd name="csX5" fmla="*/ 114283 w 4080643"/>
              <a:gd name="csY5" fmla="*/ 1628356 h 2092792"/>
              <a:gd name="csX6" fmla="*/ 114283 w 4080643"/>
              <a:gd name="csY6" fmla="*/ 1596825 h 20927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080643" h="2092792">
                <a:moveTo>
                  <a:pt x="198366" y="72825"/>
                </a:moveTo>
                <a:cubicBezTo>
                  <a:pt x="1540186" y="-3375"/>
                  <a:pt x="2882007" y="-79575"/>
                  <a:pt x="3172793" y="177929"/>
                </a:cubicBezTo>
                <a:cubicBezTo>
                  <a:pt x="3463579" y="435433"/>
                  <a:pt x="1792435" y="1309543"/>
                  <a:pt x="1943083" y="1617846"/>
                </a:cubicBezTo>
                <a:cubicBezTo>
                  <a:pt x="2093731" y="1926149"/>
                  <a:pt x="4183538" y="2229197"/>
                  <a:pt x="4076683" y="2027749"/>
                </a:cubicBezTo>
                <a:cubicBezTo>
                  <a:pt x="3969828" y="1826301"/>
                  <a:pt x="1962352" y="475722"/>
                  <a:pt x="1301952" y="409156"/>
                </a:cubicBezTo>
                <a:cubicBezTo>
                  <a:pt x="641552" y="342590"/>
                  <a:pt x="114283" y="1628356"/>
                  <a:pt x="114283" y="1628356"/>
                </a:cubicBezTo>
                <a:cubicBezTo>
                  <a:pt x="-83662" y="1826301"/>
                  <a:pt x="15310" y="1711563"/>
                  <a:pt x="114283" y="1596825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Szabadkézi sokszög: alakzat 8">
            <a:extLst>
              <a:ext uri="{FF2B5EF4-FFF2-40B4-BE49-F238E27FC236}">
                <a16:creationId xmlns:a16="http://schemas.microsoft.com/office/drawing/2014/main" id="{DA304099-835C-C97C-3FB0-E08E5E4FCF4A}"/>
              </a:ext>
            </a:extLst>
          </p:cNvPr>
          <p:cNvSpPr/>
          <p:nvPr/>
        </p:nvSpPr>
        <p:spPr>
          <a:xfrm>
            <a:off x="1001681" y="-199697"/>
            <a:ext cx="11449879" cy="6397672"/>
          </a:xfrm>
          <a:custGeom>
            <a:avLst/>
            <a:gdLst>
              <a:gd name="csX0" fmla="*/ 0 w 11449879"/>
              <a:gd name="csY0" fmla="*/ 6074980 h 6397672"/>
              <a:gd name="csX1" fmla="*/ 9144000 w 11449879"/>
              <a:gd name="csY1" fmla="*/ 840828 h 6397672"/>
              <a:gd name="csX2" fmla="*/ 2049518 w 11449879"/>
              <a:gd name="csY2" fmla="*/ 998483 h 6397672"/>
              <a:gd name="csX3" fmla="*/ 3983421 w 11449879"/>
              <a:gd name="csY3" fmla="*/ 6379780 h 6397672"/>
              <a:gd name="csX4" fmla="*/ 10773104 w 11449879"/>
              <a:gd name="csY4" fmla="*/ 2701159 h 6397672"/>
              <a:gd name="csX5" fmla="*/ 11267090 w 11449879"/>
              <a:gd name="csY5" fmla="*/ 1650125 h 6397672"/>
              <a:gd name="csX6" fmla="*/ 11298621 w 11449879"/>
              <a:gd name="csY6" fmla="*/ 0 h 63976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449879" h="6397672">
                <a:moveTo>
                  <a:pt x="0" y="6074980"/>
                </a:moveTo>
                <a:cubicBezTo>
                  <a:pt x="4401207" y="3880945"/>
                  <a:pt x="8802414" y="1686911"/>
                  <a:pt x="9144000" y="840828"/>
                </a:cubicBezTo>
                <a:cubicBezTo>
                  <a:pt x="9485586" y="-5255"/>
                  <a:pt x="2909615" y="75324"/>
                  <a:pt x="2049518" y="998483"/>
                </a:cubicBezTo>
                <a:cubicBezTo>
                  <a:pt x="1189422" y="1921642"/>
                  <a:pt x="2529490" y="6096001"/>
                  <a:pt x="3983421" y="6379780"/>
                </a:cubicBezTo>
                <a:cubicBezTo>
                  <a:pt x="5437352" y="6663559"/>
                  <a:pt x="9559159" y="3489435"/>
                  <a:pt x="10773104" y="2701159"/>
                </a:cubicBezTo>
                <a:cubicBezTo>
                  <a:pt x="11987049" y="1912883"/>
                  <a:pt x="11179504" y="2100318"/>
                  <a:pt x="11267090" y="1650125"/>
                </a:cubicBezTo>
                <a:cubicBezTo>
                  <a:pt x="11354676" y="1199932"/>
                  <a:pt x="11326648" y="599966"/>
                  <a:pt x="11298621" y="0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5A6912E2-2639-69A7-82AC-CEF9F06B1533}"/>
              </a:ext>
            </a:extLst>
          </p:cNvPr>
          <p:cNvSpPr txBox="1"/>
          <p:nvPr/>
        </p:nvSpPr>
        <p:spPr>
          <a:xfrm>
            <a:off x="3909848" y="272533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4000" b="1" i="0" dirty="0">
                <a:solidFill>
                  <a:srgbClr val="40720E"/>
                </a:solidFill>
                <a:effectLst/>
              </a:rPr>
              <a:t>Backend működése</a:t>
            </a:r>
            <a:endParaRPr lang="hu-HU" sz="4000" dirty="0">
              <a:solidFill>
                <a:srgbClr val="40720E"/>
              </a:solidFill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F9AE55BB-4E0F-D507-9B59-794DDECC40D2}"/>
              </a:ext>
            </a:extLst>
          </p:cNvPr>
          <p:cNvSpPr txBox="1"/>
          <p:nvPr/>
        </p:nvSpPr>
        <p:spPr>
          <a:xfrm>
            <a:off x="504496" y="980419"/>
            <a:ext cx="6096000" cy="306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450"/>
              </a:spcAft>
            </a:pPr>
            <a:r>
              <a:rPr lang="hu-HU" sz="2400" b="1" i="0" dirty="0">
                <a:solidFill>
                  <a:srgbClr val="1A1C1F"/>
                </a:solidFill>
                <a:effectLst/>
                <a:latin typeface="Aptos" panose="020B0004020202020204" pitchFamily="34" charset="0"/>
              </a:rPr>
              <a:t>API végpontok</a:t>
            </a:r>
          </a:p>
          <a:p>
            <a:pPr algn="l">
              <a:lnSpc>
                <a:spcPct val="150000"/>
              </a:lnSpc>
              <a:spcAft>
                <a:spcPts val="450"/>
              </a:spcAft>
            </a:pPr>
            <a:r>
              <a:rPr lang="hu-HU" sz="2400" b="1" i="0" dirty="0">
                <a:solidFill>
                  <a:srgbClr val="1A1C1F"/>
                </a:solidFill>
                <a:effectLst/>
                <a:latin typeface="Aptos" panose="020B0004020202020204" pitchFamily="34" charset="0"/>
              </a:rPr>
              <a:t>felhasználókezelés</a:t>
            </a:r>
          </a:p>
          <a:p>
            <a:pPr algn="l">
              <a:lnSpc>
                <a:spcPct val="150000"/>
              </a:lnSpc>
              <a:spcAft>
                <a:spcPts val="450"/>
              </a:spcAft>
            </a:pPr>
            <a:r>
              <a:rPr lang="hu-HU" sz="2400" b="1" i="0" dirty="0">
                <a:solidFill>
                  <a:srgbClr val="1A1C1F"/>
                </a:solidFill>
                <a:effectLst/>
                <a:latin typeface="Aptos" panose="020B0004020202020204" pitchFamily="34" charset="0"/>
              </a:rPr>
              <a:t>túrák kezelése</a:t>
            </a:r>
          </a:p>
          <a:p>
            <a:pPr algn="l">
              <a:lnSpc>
                <a:spcPct val="150000"/>
              </a:lnSpc>
              <a:spcAft>
                <a:spcPts val="450"/>
              </a:spcAft>
            </a:pPr>
            <a:r>
              <a:rPr lang="hu-HU" sz="2400" b="1" i="0" dirty="0">
                <a:solidFill>
                  <a:srgbClr val="1A1C1F"/>
                </a:solidFill>
                <a:effectLst/>
                <a:latin typeface="Aptos" panose="020B0004020202020204" pitchFamily="34" charset="0"/>
              </a:rPr>
              <a:t>fórumkezelés</a:t>
            </a:r>
          </a:p>
          <a:p>
            <a:pPr algn="l">
              <a:lnSpc>
                <a:spcPct val="150000"/>
              </a:lnSpc>
              <a:spcAft>
                <a:spcPts val="450"/>
              </a:spcAft>
            </a:pPr>
            <a:r>
              <a:rPr lang="hu-HU" sz="2400" b="1" i="0" dirty="0">
                <a:solidFill>
                  <a:srgbClr val="1A1C1F"/>
                </a:solidFill>
                <a:effectLst/>
                <a:latin typeface="Aptos" panose="020B0004020202020204" pitchFamily="34" charset="0"/>
              </a:rPr>
              <a:t>adatbázis-kommunikáció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00F3C917-887C-F1BD-1AAC-BF4DA171D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6621" y="1527362"/>
            <a:ext cx="3374762" cy="4003165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3203227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erékszögű háromszög 7">
            <a:extLst>
              <a:ext uri="{FF2B5EF4-FFF2-40B4-BE49-F238E27FC236}">
                <a16:creationId xmlns:a16="http://schemas.microsoft.com/office/drawing/2014/main" id="{A1E7ACCE-5281-5F8A-EA4A-79175EEB9948}"/>
              </a:ext>
            </a:extLst>
          </p:cNvPr>
          <p:cNvSpPr/>
          <p:nvPr/>
        </p:nvSpPr>
        <p:spPr>
          <a:xfrm>
            <a:off x="0" y="3620813"/>
            <a:ext cx="3331779" cy="3258207"/>
          </a:xfrm>
          <a:prstGeom prst="rt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94041D5B-38F4-E5BE-E355-F5E95DAF3260}"/>
              </a:ext>
            </a:extLst>
          </p:cNvPr>
          <p:cNvSpPr txBox="1"/>
          <p:nvPr/>
        </p:nvSpPr>
        <p:spPr>
          <a:xfrm>
            <a:off x="3731173" y="230493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4000" b="1" i="0" dirty="0">
                <a:solidFill>
                  <a:srgbClr val="40720E"/>
                </a:solidFill>
                <a:effectLst/>
              </a:rPr>
              <a:t>Adatbázis felépítése</a:t>
            </a:r>
            <a:endParaRPr lang="hu-HU" sz="4000" dirty="0">
              <a:solidFill>
                <a:srgbClr val="40720E"/>
              </a:solidFill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FBC2821A-592E-9A3E-0B12-7344F7A65D91}"/>
              </a:ext>
            </a:extLst>
          </p:cNvPr>
          <p:cNvSpPr txBox="1"/>
          <p:nvPr/>
        </p:nvSpPr>
        <p:spPr>
          <a:xfrm>
            <a:off x="525518" y="2207287"/>
            <a:ext cx="6096000" cy="2443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450"/>
              </a:spcAft>
            </a:pPr>
            <a:r>
              <a:rPr lang="hu-HU" sz="2400" b="1" i="0" dirty="0">
                <a:solidFill>
                  <a:srgbClr val="1A1C1F"/>
                </a:solidFill>
                <a:effectLst/>
              </a:rPr>
              <a:t>Users</a:t>
            </a:r>
          </a:p>
          <a:p>
            <a:pPr algn="l">
              <a:lnSpc>
                <a:spcPct val="150000"/>
              </a:lnSpc>
              <a:spcAft>
                <a:spcPts val="450"/>
              </a:spcAft>
            </a:pPr>
            <a:r>
              <a:rPr lang="hu-HU" sz="2400" b="1" i="0" dirty="0">
                <a:solidFill>
                  <a:srgbClr val="1A1C1F"/>
                </a:solidFill>
                <a:effectLst/>
              </a:rPr>
              <a:t>Turak</a:t>
            </a:r>
          </a:p>
          <a:p>
            <a:pPr algn="l">
              <a:lnSpc>
                <a:spcPct val="150000"/>
              </a:lnSpc>
              <a:spcAft>
                <a:spcPts val="450"/>
              </a:spcAft>
            </a:pPr>
            <a:r>
              <a:rPr lang="hu-HU" sz="2400" b="1" i="0" dirty="0">
                <a:solidFill>
                  <a:srgbClr val="1A1C1F"/>
                </a:solidFill>
                <a:effectLst/>
              </a:rPr>
              <a:t>ForumTemak</a:t>
            </a:r>
          </a:p>
          <a:p>
            <a:pPr algn="l">
              <a:lnSpc>
                <a:spcPct val="150000"/>
              </a:lnSpc>
              <a:spcAft>
                <a:spcPts val="450"/>
              </a:spcAft>
            </a:pPr>
            <a:r>
              <a:rPr lang="hu-HU" sz="2400" b="1" i="0" dirty="0">
                <a:solidFill>
                  <a:srgbClr val="1A1C1F"/>
                </a:solidFill>
                <a:effectLst/>
              </a:rPr>
              <a:t>ForumKommentek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B02CB11B-6755-9FE1-05CC-9D2EECB53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212" y="1283467"/>
            <a:ext cx="6118810" cy="527093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Derékszögű háromszög 8">
            <a:extLst>
              <a:ext uri="{FF2B5EF4-FFF2-40B4-BE49-F238E27FC236}">
                <a16:creationId xmlns:a16="http://schemas.microsoft.com/office/drawing/2014/main" id="{E62B4049-8D00-D001-F415-8E5FB1F6F630}"/>
              </a:ext>
            </a:extLst>
          </p:cNvPr>
          <p:cNvSpPr/>
          <p:nvPr/>
        </p:nvSpPr>
        <p:spPr>
          <a:xfrm rot="10800000">
            <a:off x="8860221" y="0"/>
            <a:ext cx="3331779" cy="3258207"/>
          </a:xfrm>
          <a:prstGeom prst="rt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79764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89F914FE-B178-6970-8A0D-E76B6631527A}"/>
              </a:ext>
            </a:extLst>
          </p:cNvPr>
          <p:cNvSpPr txBox="1"/>
          <p:nvPr/>
        </p:nvSpPr>
        <p:spPr>
          <a:xfrm>
            <a:off x="241737" y="156919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4000" b="1" i="0" dirty="0">
                <a:solidFill>
                  <a:srgbClr val="40720E"/>
                </a:solidFill>
                <a:effectLst/>
              </a:rPr>
              <a:t>Jogosultságkezelés</a:t>
            </a:r>
            <a:endParaRPr lang="hu-HU" dirty="0">
              <a:solidFill>
                <a:srgbClr val="40720E"/>
              </a:solidFill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3236F630-6DDD-80A0-34ED-23E4034F2D43}"/>
              </a:ext>
            </a:extLst>
          </p:cNvPr>
          <p:cNvSpPr txBox="1"/>
          <p:nvPr/>
        </p:nvSpPr>
        <p:spPr>
          <a:xfrm>
            <a:off x="325820" y="1453224"/>
            <a:ext cx="6096000" cy="1825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450"/>
              </a:spcAft>
            </a:pPr>
            <a:r>
              <a:rPr lang="hu-HU" sz="2400" b="1" i="0" dirty="0">
                <a:solidFill>
                  <a:srgbClr val="1A1C1F"/>
                </a:solidFill>
                <a:effectLst/>
              </a:rPr>
              <a:t>vendég</a:t>
            </a:r>
          </a:p>
          <a:p>
            <a:pPr algn="l">
              <a:lnSpc>
                <a:spcPct val="150000"/>
              </a:lnSpc>
              <a:spcAft>
                <a:spcPts val="450"/>
              </a:spcAft>
            </a:pPr>
            <a:r>
              <a:rPr lang="hu-HU" sz="2400" b="1" i="0" dirty="0">
                <a:solidFill>
                  <a:srgbClr val="1A1C1F"/>
                </a:solidFill>
                <a:effectLst/>
              </a:rPr>
              <a:t>bejelentkezett felhasználó</a:t>
            </a:r>
          </a:p>
          <a:p>
            <a:pPr algn="l">
              <a:lnSpc>
                <a:spcPct val="150000"/>
              </a:lnSpc>
              <a:spcAft>
                <a:spcPts val="450"/>
              </a:spcAft>
            </a:pPr>
            <a:r>
              <a:rPr lang="hu-HU" sz="2400" b="1" i="0" dirty="0">
                <a:solidFill>
                  <a:srgbClr val="1A1C1F"/>
                </a:solidFill>
                <a:effectLst/>
              </a:rPr>
              <a:t>adminisztrátor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3DA0B12F-8A18-9775-5BE4-06E0A0A00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201" y="1459828"/>
            <a:ext cx="7521282" cy="39449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40102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E14F3054-5773-49B6-FCCE-DC45F43F1CC1}"/>
              </a:ext>
            </a:extLst>
          </p:cNvPr>
          <p:cNvSpPr txBox="1"/>
          <p:nvPr/>
        </p:nvSpPr>
        <p:spPr>
          <a:xfrm>
            <a:off x="357352" y="335595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4000" b="1" i="0" dirty="0">
                <a:solidFill>
                  <a:srgbClr val="40720E"/>
                </a:solidFill>
                <a:effectLst/>
              </a:rPr>
              <a:t>Fontosabb algoritmusok</a:t>
            </a:r>
            <a:endParaRPr lang="hu-HU" sz="4000" dirty="0">
              <a:solidFill>
                <a:srgbClr val="40720E"/>
              </a:solidFill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53515201-7661-B36D-383E-A093F2DFEBF0}"/>
              </a:ext>
            </a:extLst>
          </p:cNvPr>
          <p:cNvSpPr txBox="1"/>
          <p:nvPr/>
        </p:nvSpPr>
        <p:spPr>
          <a:xfrm>
            <a:off x="6201103" y="4409668"/>
            <a:ext cx="6096000" cy="120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450"/>
              </a:spcAft>
            </a:pPr>
            <a:endParaRPr lang="hu-HU" sz="2400" b="1" i="0" dirty="0">
              <a:solidFill>
                <a:srgbClr val="1A1C1F"/>
              </a:solidFill>
              <a:effectLst/>
              <a:latin typeface="-apple-system"/>
            </a:endParaRPr>
          </a:p>
          <a:p>
            <a:pPr algn="l">
              <a:lnSpc>
                <a:spcPct val="150000"/>
              </a:lnSpc>
              <a:spcAft>
                <a:spcPts val="450"/>
              </a:spcAft>
            </a:pPr>
            <a:r>
              <a:rPr lang="hu-HU" sz="2400" b="1" i="0" dirty="0">
                <a:solidFill>
                  <a:srgbClr val="1A1C1F"/>
                </a:solidFill>
                <a:effectLst/>
                <a:latin typeface="Aptos" panose="020B0004020202020204" pitchFamily="34" charset="0"/>
              </a:rPr>
              <a:t>kommentek kapcsolása témákhoz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4BC95D30-43C3-77E3-D551-D18C50AC2C6A}"/>
              </a:ext>
            </a:extLst>
          </p:cNvPr>
          <p:cNvSpPr txBox="1"/>
          <p:nvPr/>
        </p:nvSpPr>
        <p:spPr>
          <a:xfrm>
            <a:off x="6290441" y="1001555"/>
            <a:ext cx="6096000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450"/>
              </a:spcAft>
            </a:pPr>
            <a:r>
              <a:rPr lang="hu-HU" sz="2400" b="1" i="0" dirty="0">
                <a:solidFill>
                  <a:srgbClr val="1A1C1F"/>
                </a:solidFill>
                <a:effectLst/>
              </a:rPr>
              <a:t>login ellenőrzés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C3DB2062-E6E3-DC68-B45E-B5699F7B56D7}"/>
              </a:ext>
            </a:extLst>
          </p:cNvPr>
          <p:cNvSpPr txBox="1"/>
          <p:nvPr/>
        </p:nvSpPr>
        <p:spPr>
          <a:xfrm>
            <a:off x="499242" y="2172713"/>
            <a:ext cx="6096000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450"/>
              </a:spcAft>
            </a:pPr>
            <a:r>
              <a:rPr lang="hu-HU" sz="2400" b="1" i="0" dirty="0">
                <a:solidFill>
                  <a:srgbClr val="1A1C1F"/>
                </a:solidFill>
                <a:effectLst/>
              </a:rPr>
              <a:t>regisztrációs e-mail ellenőrzés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495C3D5A-6D2E-BB7B-EC9C-562A6EA4D5B5}"/>
              </a:ext>
            </a:extLst>
          </p:cNvPr>
          <p:cNvSpPr txBox="1"/>
          <p:nvPr/>
        </p:nvSpPr>
        <p:spPr>
          <a:xfrm>
            <a:off x="7430814" y="3046650"/>
            <a:ext cx="6096000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450"/>
              </a:spcAft>
            </a:pPr>
            <a:r>
              <a:rPr lang="hu-HU" sz="2400" b="1" i="0" dirty="0">
                <a:solidFill>
                  <a:srgbClr val="1A1C1F"/>
                </a:solidFill>
                <a:effectLst/>
              </a:rPr>
              <a:t>túraszűrés</a:t>
            </a:r>
            <a:endParaRPr lang="hu-HU" sz="1800" b="1" i="0" dirty="0">
              <a:solidFill>
                <a:srgbClr val="1A1C1F"/>
              </a:solidFill>
              <a:effectLst/>
            </a:endParaRP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835FF4B0-DBED-A430-5270-C8F6A9719D26}"/>
              </a:ext>
            </a:extLst>
          </p:cNvPr>
          <p:cNvSpPr txBox="1"/>
          <p:nvPr/>
        </p:nvSpPr>
        <p:spPr>
          <a:xfrm>
            <a:off x="499242" y="4157842"/>
            <a:ext cx="62746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400" b="1" i="0" dirty="0">
                <a:solidFill>
                  <a:srgbClr val="1A1C1F"/>
                </a:solidFill>
                <a:effectLst/>
              </a:rPr>
              <a:t>hozzászólásszámolás</a:t>
            </a:r>
            <a:endParaRPr lang="hu-HU" dirty="0"/>
          </a:p>
        </p:txBody>
      </p:sp>
      <p:sp>
        <p:nvSpPr>
          <p:cNvPr id="14" name="Téglalap 13">
            <a:extLst>
              <a:ext uri="{FF2B5EF4-FFF2-40B4-BE49-F238E27FC236}">
                <a16:creationId xmlns:a16="http://schemas.microsoft.com/office/drawing/2014/main" id="{64D27471-9937-D243-220A-33C79B2A5A69}"/>
              </a:ext>
            </a:extLst>
          </p:cNvPr>
          <p:cNvSpPr/>
          <p:nvPr/>
        </p:nvSpPr>
        <p:spPr>
          <a:xfrm>
            <a:off x="-7514897" y="1970216"/>
            <a:ext cx="12370676" cy="262759"/>
          </a:xfrm>
          <a:prstGeom prst="rect">
            <a:avLst/>
          </a:prstGeom>
          <a:solidFill>
            <a:srgbClr val="40720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Téglalap 14">
            <a:extLst>
              <a:ext uri="{FF2B5EF4-FFF2-40B4-BE49-F238E27FC236}">
                <a16:creationId xmlns:a16="http://schemas.microsoft.com/office/drawing/2014/main" id="{C0701B8E-4DA7-0D50-7C80-AFEB719A9C06}"/>
              </a:ext>
            </a:extLst>
          </p:cNvPr>
          <p:cNvSpPr/>
          <p:nvPr/>
        </p:nvSpPr>
        <p:spPr>
          <a:xfrm>
            <a:off x="7430814" y="2875317"/>
            <a:ext cx="12370676" cy="262759"/>
          </a:xfrm>
          <a:prstGeom prst="rect">
            <a:avLst/>
          </a:prstGeom>
          <a:solidFill>
            <a:srgbClr val="40720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 15">
            <a:extLst>
              <a:ext uri="{FF2B5EF4-FFF2-40B4-BE49-F238E27FC236}">
                <a16:creationId xmlns:a16="http://schemas.microsoft.com/office/drawing/2014/main" id="{55F579E2-7451-487A-5080-AA214E57553B}"/>
              </a:ext>
            </a:extLst>
          </p:cNvPr>
          <p:cNvSpPr/>
          <p:nvPr/>
        </p:nvSpPr>
        <p:spPr>
          <a:xfrm>
            <a:off x="-8734096" y="3881077"/>
            <a:ext cx="12370676" cy="262759"/>
          </a:xfrm>
          <a:prstGeom prst="rect">
            <a:avLst/>
          </a:prstGeom>
          <a:solidFill>
            <a:srgbClr val="40720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Téglalap 16">
            <a:extLst>
              <a:ext uri="{FF2B5EF4-FFF2-40B4-BE49-F238E27FC236}">
                <a16:creationId xmlns:a16="http://schemas.microsoft.com/office/drawing/2014/main" id="{5284DC43-3ACC-C577-F884-C6F37B087AB0}"/>
              </a:ext>
            </a:extLst>
          </p:cNvPr>
          <p:cNvSpPr/>
          <p:nvPr/>
        </p:nvSpPr>
        <p:spPr>
          <a:xfrm>
            <a:off x="6290441" y="4806880"/>
            <a:ext cx="12370676" cy="262759"/>
          </a:xfrm>
          <a:prstGeom prst="rect">
            <a:avLst/>
          </a:prstGeom>
          <a:solidFill>
            <a:srgbClr val="40720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Téglalap 17">
            <a:extLst>
              <a:ext uri="{FF2B5EF4-FFF2-40B4-BE49-F238E27FC236}">
                <a16:creationId xmlns:a16="http://schemas.microsoft.com/office/drawing/2014/main" id="{0D3F72F7-F2FB-4678-4D1C-F93ACAB3FD0E}"/>
              </a:ext>
            </a:extLst>
          </p:cNvPr>
          <p:cNvSpPr/>
          <p:nvPr/>
        </p:nvSpPr>
        <p:spPr>
          <a:xfrm>
            <a:off x="6290441" y="721296"/>
            <a:ext cx="12370676" cy="262759"/>
          </a:xfrm>
          <a:prstGeom prst="rect">
            <a:avLst/>
          </a:prstGeom>
          <a:solidFill>
            <a:srgbClr val="40720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24450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0F459605-4B37-043C-0E94-D6F2EF9E82D9}"/>
              </a:ext>
            </a:extLst>
          </p:cNvPr>
          <p:cNvSpPr txBox="1"/>
          <p:nvPr/>
        </p:nvSpPr>
        <p:spPr>
          <a:xfrm>
            <a:off x="3447393" y="409168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4000" b="1" i="0" dirty="0">
                <a:solidFill>
                  <a:srgbClr val="40720E"/>
                </a:solidFill>
                <a:effectLst/>
              </a:rPr>
              <a:t>Tesztelés és hibakezelés</a:t>
            </a:r>
            <a:endParaRPr lang="hu-HU" sz="4000" dirty="0">
              <a:solidFill>
                <a:srgbClr val="40720E"/>
              </a:solidFill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E620812A-5358-553A-82E2-707FC61F7FD8}"/>
              </a:ext>
            </a:extLst>
          </p:cNvPr>
          <p:cNvSpPr txBox="1"/>
          <p:nvPr/>
        </p:nvSpPr>
        <p:spPr>
          <a:xfrm>
            <a:off x="283779" y="1690398"/>
            <a:ext cx="6096000" cy="3679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450"/>
              </a:spcAft>
            </a:pPr>
            <a:r>
              <a:rPr lang="hu-HU" sz="2400" b="1" i="0" dirty="0">
                <a:solidFill>
                  <a:srgbClr val="1A1C1F"/>
                </a:solidFill>
                <a:effectLst/>
                <a:latin typeface="Aptos" panose="020B0004020202020204" pitchFamily="34" charset="0"/>
              </a:rPr>
              <a:t>sikeres login</a:t>
            </a:r>
          </a:p>
          <a:p>
            <a:pPr algn="l">
              <a:lnSpc>
                <a:spcPct val="150000"/>
              </a:lnSpc>
              <a:spcAft>
                <a:spcPts val="450"/>
              </a:spcAft>
            </a:pPr>
            <a:r>
              <a:rPr lang="hu-HU" sz="2400" b="1" i="0" dirty="0">
                <a:solidFill>
                  <a:srgbClr val="1A1C1F"/>
                </a:solidFill>
                <a:effectLst/>
                <a:latin typeface="Aptos" panose="020B0004020202020204" pitchFamily="34" charset="0"/>
              </a:rPr>
              <a:t>hibás login</a:t>
            </a:r>
          </a:p>
          <a:p>
            <a:pPr algn="l">
              <a:lnSpc>
                <a:spcPct val="150000"/>
              </a:lnSpc>
              <a:spcAft>
                <a:spcPts val="450"/>
              </a:spcAft>
            </a:pPr>
            <a:r>
              <a:rPr lang="hu-HU" sz="2400" b="1" i="0" dirty="0">
                <a:solidFill>
                  <a:srgbClr val="1A1C1F"/>
                </a:solidFill>
                <a:effectLst/>
                <a:latin typeface="Aptos" panose="020B0004020202020204" pitchFamily="34" charset="0"/>
              </a:rPr>
              <a:t>foglalt e-mail</a:t>
            </a:r>
          </a:p>
          <a:p>
            <a:pPr algn="l">
              <a:lnSpc>
                <a:spcPct val="150000"/>
              </a:lnSpc>
              <a:spcAft>
                <a:spcPts val="450"/>
              </a:spcAft>
            </a:pPr>
            <a:r>
              <a:rPr lang="hu-HU" sz="2400" b="1" i="0" dirty="0">
                <a:solidFill>
                  <a:srgbClr val="1A1C1F"/>
                </a:solidFill>
                <a:effectLst/>
                <a:latin typeface="Aptos" panose="020B0004020202020204" pitchFamily="34" charset="0"/>
              </a:rPr>
              <a:t>nincs találat</a:t>
            </a:r>
          </a:p>
          <a:p>
            <a:pPr algn="l">
              <a:lnSpc>
                <a:spcPct val="150000"/>
              </a:lnSpc>
              <a:spcAft>
                <a:spcPts val="450"/>
              </a:spcAft>
            </a:pPr>
            <a:r>
              <a:rPr lang="hu-HU" sz="2400" b="1" i="0" dirty="0">
                <a:solidFill>
                  <a:srgbClr val="1A1C1F"/>
                </a:solidFill>
                <a:effectLst/>
                <a:latin typeface="Aptos" panose="020B0004020202020204" pitchFamily="34" charset="0"/>
              </a:rPr>
              <a:t>backend elérhetetlenség</a:t>
            </a:r>
          </a:p>
          <a:p>
            <a:pPr algn="l">
              <a:lnSpc>
                <a:spcPct val="150000"/>
              </a:lnSpc>
              <a:spcAft>
                <a:spcPts val="450"/>
              </a:spcAft>
            </a:pPr>
            <a:r>
              <a:rPr lang="hu-HU" sz="2400" b="1" i="0" dirty="0">
                <a:solidFill>
                  <a:srgbClr val="1A1C1F"/>
                </a:solidFill>
                <a:effectLst/>
                <a:latin typeface="Aptos" panose="020B0004020202020204" pitchFamily="34" charset="0"/>
              </a:rPr>
              <a:t>fórum jogosultság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CE79B1CA-7F0B-82E5-5F34-59F1FF83C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063" y="1223706"/>
            <a:ext cx="4036000" cy="522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7362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églalap 7">
            <a:extLst>
              <a:ext uri="{FF2B5EF4-FFF2-40B4-BE49-F238E27FC236}">
                <a16:creationId xmlns:a16="http://schemas.microsoft.com/office/drawing/2014/main" id="{B5C278EC-5237-FC4E-2CCC-6494DB4A3055}"/>
              </a:ext>
            </a:extLst>
          </p:cNvPr>
          <p:cNvSpPr/>
          <p:nvPr/>
        </p:nvSpPr>
        <p:spPr>
          <a:xfrm>
            <a:off x="96963" y="436179"/>
            <a:ext cx="3598001" cy="6421821"/>
          </a:xfrm>
          <a:prstGeom prst="rect">
            <a:avLst/>
          </a:prstGeom>
          <a:solidFill>
            <a:srgbClr val="40720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EF4FF87E-995F-2C0C-4A5E-E3B79D53A4B1}"/>
              </a:ext>
            </a:extLst>
          </p:cNvPr>
          <p:cNvSpPr txBox="1"/>
          <p:nvPr/>
        </p:nvSpPr>
        <p:spPr>
          <a:xfrm>
            <a:off x="3779046" y="232092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4000" b="1" i="0" dirty="0">
                <a:solidFill>
                  <a:srgbClr val="40720E"/>
                </a:solidFill>
                <a:effectLst/>
              </a:rPr>
              <a:t>Adminisztrációs lehetőségek</a:t>
            </a:r>
            <a:endParaRPr lang="hu-HU" sz="4000" dirty="0">
              <a:solidFill>
                <a:srgbClr val="40720E"/>
              </a:solidFill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757C412D-EC79-2490-0FC4-0B396FEA0127}"/>
              </a:ext>
            </a:extLst>
          </p:cNvPr>
          <p:cNvSpPr txBox="1"/>
          <p:nvPr/>
        </p:nvSpPr>
        <p:spPr>
          <a:xfrm>
            <a:off x="96963" y="2207287"/>
            <a:ext cx="6096000" cy="2443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hu-HU" sz="2400" b="1" i="0" dirty="0">
                <a:solidFill>
                  <a:srgbClr val="1A1C1F"/>
                </a:solidFill>
                <a:effectLst/>
                <a:latin typeface="Aptos" panose="020B0004020202020204" pitchFamily="34" charset="0"/>
              </a:rPr>
              <a:t>új túra létrehozása</a:t>
            </a:r>
          </a:p>
          <a:p>
            <a:pPr marL="342900" indent="-342900" algn="l">
              <a:lnSpc>
                <a:spcPct val="15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hu-HU" sz="2400" b="1" i="0" dirty="0">
                <a:solidFill>
                  <a:srgbClr val="1A1C1F"/>
                </a:solidFill>
                <a:effectLst/>
                <a:latin typeface="Aptos" panose="020B0004020202020204" pitchFamily="34" charset="0"/>
              </a:rPr>
              <a:t>túra törlése</a:t>
            </a:r>
          </a:p>
          <a:p>
            <a:pPr marL="342900" indent="-342900" algn="l">
              <a:lnSpc>
                <a:spcPct val="15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hu-HU" sz="2400" b="1" i="0" dirty="0">
                <a:solidFill>
                  <a:srgbClr val="1A1C1F"/>
                </a:solidFill>
                <a:effectLst/>
                <a:latin typeface="Aptos" panose="020B0004020202020204" pitchFamily="34" charset="0"/>
              </a:rPr>
              <a:t>fórumtéma törlése</a:t>
            </a:r>
          </a:p>
          <a:p>
            <a:pPr marL="342900" indent="-342900" algn="l">
              <a:lnSpc>
                <a:spcPct val="15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hu-HU" sz="2400" b="1" i="0" dirty="0">
                <a:solidFill>
                  <a:srgbClr val="1A1C1F"/>
                </a:solidFill>
                <a:effectLst/>
                <a:latin typeface="Aptos" panose="020B0004020202020204" pitchFamily="34" charset="0"/>
              </a:rPr>
              <a:t>komment moderálása</a:t>
            </a:r>
            <a:endParaRPr lang="hu-HU" b="1" i="0" dirty="0">
              <a:solidFill>
                <a:srgbClr val="1A1C1F"/>
              </a:solidFill>
              <a:effectLst/>
              <a:latin typeface="Aptos" panose="020B0004020202020204" pitchFamily="34" charset="0"/>
            </a:endParaRP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AA12FAEB-05D2-15FC-8666-09C947A07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046" y="1555531"/>
            <a:ext cx="8231909" cy="499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2762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042D759B-D16D-D686-B26A-AA6D59D7D472}"/>
              </a:ext>
            </a:extLst>
          </p:cNvPr>
          <p:cNvSpPr txBox="1"/>
          <p:nvPr/>
        </p:nvSpPr>
        <p:spPr>
          <a:xfrm>
            <a:off x="4051737" y="0"/>
            <a:ext cx="46192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7200" b="1" i="0" dirty="0">
                <a:solidFill>
                  <a:srgbClr val="40720E"/>
                </a:solidFill>
                <a:effectLst/>
              </a:rPr>
              <a:t>Összegzés</a:t>
            </a:r>
            <a:endParaRPr lang="hu-HU" dirty="0">
              <a:solidFill>
                <a:srgbClr val="40720E"/>
              </a:solidFill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5528BD1D-1752-3F7D-78F7-8D45243964D5}"/>
              </a:ext>
            </a:extLst>
          </p:cNvPr>
          <p:cNvSpPr txBox="1"/>
          <p:nvPr/>
        </p:nvSpPr>
        <p:spPr>
          <a:xfrm>
            <a:off x="3047999" y="1938682"/>
            <a:ext cx="6096000" cy="2803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lnSpc>
                <a:spcPct val="15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hu-HU" sz="2800" b="1" i="0" dirty="0">
                <a:solidFill>
                  <a:srgbClr val="1A1C1F"/>
                </a:solidFill>
                <a:effectLst/>
                <a:latin typeface="Aptos" panose="020B0004020202020204" pitchFamily="34" charset="0"/>
              </a:rPr>
              <a:t>működő webalkalmazás készült</a:t>
            </a:r>
          </a:p>
          <a:p>
            <a:pPr marL="457200" indent="-457200" algn="l">
              <a:lnSpc>
                <a:spcPct val="15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hu-HU" sz="2800" b="1" i="0" dirty="0">
                <a:solidFill>
                  <a:srgbClr val="1A1C1F"/>
                </a:solidFill>
                <a:effectLst/>
                <a:latin typeface="Aptos" panose="020B0004020202020204" pitchFamily="34" charset="0"/>
              </a:rPr>
              <a:t>frontend + backend + adatbázis</a:t>
            </a:r>
          </a:p>
          <a:p>
            <a:pPr marL="457200" indent="-457200" algn="l">
              <a:lnSpc>
                <a:spcPct val="15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hu-HU" sz="2800" b="1" i="0" dirty="0">
                <a:solidFill>
                  <a:srgbClr val="1A1C1F"/>
                </a:solidFill>
                <a:effectLst/>
                <a:latin typeface="Aptos" panose="020B0004020202020204" pitchFamily="34" charset="0"/>
              </a:rPr>
              <a:t>közösségi és admin funkciók</a:t>
            </a:r>
          </a:p>
          <a:p>
            <a:pPr marL="457200" indent="-457200" algn="l">
              <a:lnSpc>
                <a:spcPct val="15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hu-HU" sz="2800" b="1" i="0" dirty="0">
                <a:solidFill>
                  <a:srgbClr val="1A1C1F"/>
                </a:solidFill>
                <a:effectLst/>
                <a:latin typeface="Aptos" panose="020B0004020202020204" pitchFamily="34" charset="0"/>
              </a:rPr>
              <a:t>sok szakmai tapasztalat</a:t>
            </a:r>
            <a:endParaRPr lang="hu-HU" b="1" i="0" dirty="0">
              <a:solidFill>
                <a:srgbClr val="1A1C1F"/>
              </a:solidFill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61877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E3CEB44E-1B09-7102-E5F5-C2086FC01193}"/>
              </a:ext>
            </a:extLst>
          </p:cNvPr>
          <p:cNvSpPr/>
          <p:nvPr/>
        </p:nvSpPr>
        <p:spPr>
          <a:xfrm>
            <a:off x="0" y="0"/>
            <a:ext cx="12286593" cy="7115503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522C4973-1B8C-10B5-A027-5CBA22B10CA4}"/>
              </a:ext>
            </a:extLst>
          </p:cNvPr>
          <p:cNvSpPr txBox="1"/>
          <p:nvPr/>
        </p:nvSpPr>
        <p:spPr>
          <a:xfrm>
            <a:off x="3095296" y="3010533"/>
            <a:ext cx="69525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4800" b="1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Köszönjük a figyelmet!</a:t>
            </a:r>
            <a:endParaRPr lang="hu-HU" sz="48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2166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253</Words>
  <Application>Microsoft Office PowerPoint</Application>
  <PresentationFormat>Szélesvásznú</PresentationFormat>
  <Paragraphs>100</Paragraphs>
  <Slides>17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17</vt:i4>
      </vt:variant>
    </vt:vector>
  </HeadingPairs>
  <TitlesOfParts>
    <vt:vector size="24" baseType="lpstr">
      <vt:lpstr>-apple-system</vt:lpstr>
      <vt:lpstr>Aptos</vt:lpstr>
      <vt:lpstr>Aptos (Szövegtörzs)</vt:lpstr>
      <vt:lpstr>Aptos Display</vt:lpstr>
      <vt:lpstr>Arial</vt:lpstr>
      <vt:lpstr>Georgia Pro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Kristof Szabo</dc:creator>
  <cp:lastModifiedBy>Kristof Szabo</cp:lastModifiedBy>
  <cp:revision>1</cp:revision>
  <dcterms:created xsi:type="dcterms:W3CDTF">2026-04-17T15:44:59Z</dcterms:created>
  <dcterms:modified xsi:type="dcterms:W3CDTF">2026-04-17T17:52:13Z</dcterms:modified>
</cp:coreProperties>
</file>